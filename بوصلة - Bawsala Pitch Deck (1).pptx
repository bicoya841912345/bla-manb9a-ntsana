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50000">
              <a:srgbClr val="0D47A1"/>
            </a:gs>
            <a:gs pos="100000">
              <a:srgbClr val="1976D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34266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428714" y="4476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62380" y="1352549"/>
            <a:ext cx="2666933" cy="145732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2420" y="3276599"/>
            <a:ext cx="1866853" cy="1219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4066" b="1">
                <a:solidFill>
                  <a:srgbClr val="FFFFFF"/>
                </a:solidFill>
              </a:rPr>
              <a:t>بوصلة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2240" y="4876800"/>
            <a:ext cx="5457688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62240" y="4876800"/>
            <a:ext cx="5457688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130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لأن 12 سنة من الدراسة لا يجب أن تضيع بقرار خاطئ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50000">
              <a:srgbClr val="0D47A1"/>
            </a:gs>
            <a:gs pos="100000">
              <a:srgbClr val="1976D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904952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0504" y="4476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352549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0"/>
              </a:spcAft>
            </a:pPr>
            <a:r>
              <a:rPr sz="2392" b="1">
                <a:solidFill>
                  <a:srgbClr val="FFFFFF"/>
                </a:solidFill>
              </a:rPr>
              <a:t>المشكلة العميقة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58228" y="27432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20149" y="2934028"/>
            <a:ext cx="342891" cy="2660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95567" y="2876549"/>
            <a:ext cx="738169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 </a:t>
            </a:r>
            <a:r>
              <a:rPr sz="1674" b="1">
                <a:solidFill>
                  <a:srgbClr val="FF5252"/>
                </a:solidFill>
              </a:rPr>
              <a:t>غلاء مكاتب الاستشارة الخاصة</a:t>
            </a:r>
            <a:r>
              <a:rPr sz="1435" b="0">
                <a:solidFill>
                  <a:srgbClr val="FFFFFF"/>
                </a:solidFill>
              </a:rPr>
              <a:t> وتكاليف التنقل الباهظة نحو المدن الكبرى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58228" y="379094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20149" y="3975866"/>
            <a:ext cx="342891" cy="2778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3826" y="3924299"/>
            <a:ext cx="5733906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 توجيه سيئ = </a:t>
            </a:r>
            <a:r>
              <a:rPr sz="1674" b="1">
                <a:solidFill>
                  <a:srgbClr val="FF5252"/>
                </a:solidFill>
              </a:rPr>
              <a:t>ضياع 12 سنة</a:t>
            </a:r>
            <a:r>
              <a:rPr sz="1435" b="0">
                <a:solidFill>
                  <a:srgbClr val="FFFFFF"/>
                </a:solidFill>
              </a:rPr>
              <a:t> من الجهد الدراسي = بطالة وفقر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58228" y="483869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20149" y="5017704"/>
            <a:ext cx="342891" cy="2896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71665" y="4972050"/>
            <a:ext cx="8296067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 آلاف التلاميذ يختارون مسارات لا تناسبهم، والنتيجة </a:t>
            </a:r>
            <a:r>
              <a:rPr sz="1674" b="1">
                <a:solidFill>
                  <a:srgbClr val="FF5252"/>
                </a:solidFill>
              </a:rPr>
              <a:t>سنوات ضائعة ومستقبل مجهول</a:t>
            </a:r>
            <a:r>
              <a:rPr sz="1435" b="0">
                <a:solidFill>
                  <a:srgbClr val="FFFF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50000">
              <a:srgbClr val="0D47A1"/>
            </a:gs>
            <a:gs pos="100000">
              <a:srgbClr val="1976D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904952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0504" y="4476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571500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392" b="1">
                <a:solidFill>
                  <a:srgbClr val="FFFFFF"/>
                </a:solidFill>
              </a:rPr>
              <a:t>الحل: تطبيق بوصلة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599" y="1857375"/>
            <a:ext cx="5524361" cy="4429125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0" y="3023726"/>
            <a:ext cx="761980" cy="639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10324" y="3914775"/>
            <a:ext cx="1504912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4FC3F7"/>
                </a:solidFill>
              </a:rPr>
              <a:t>بوصلة رقمية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342" y="4552949"/>
            <a:ext cx="4952876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</a:rPr>
              <a:t>ربط الطلاب بمرشدين عبر الفيديو لمساعدتهم في اختيار المسار التعليمي المناسب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1857375"/>
            <a:ext cx="4952876" cy="971550"/>
          </a:xfrm>
          <a:prstGeom prst="roundRect">
            <a:avLst>
              <a:gd name="adj" fmla="val 2352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57628" y="20574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000499" y="2226517"/>
            <a:ext cx="285742" cy="2332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7228" y="2047874"/>
            <a:ext cx="3809904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</a:rPr>
              <a:t> </a:t>
            </a:r>
            <a:r>
              <a:rPr sz="1315" b="1">
                <a:solidFill>
                  <a:srgbClr val="4FC3F7"/>
                </a:solidFill>
              </a:rPr>
              <a:t>إرشاد ميسور التكلفة</a:t>
            </a:r>
            <a:r>
              <a:rPr sz="1315" b="0">
                <a:solidFill>
                  <a:srgbClr val="FFFFFF"/>
                </a:solidFill>
              </a:rPr>
              <a:t> - توفير استشارات عالية الجودة بأسعار معقولة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3019424"/>
            <a:ext cx="4952876" cy="971550"/>
          </a:xfrm>
          <a:prstGeom prst="roundRect">
            <a:avLst>
              <a:gd name="adj" fmla="val 2352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57628" y="32099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000499" y="3389247"/>
            <a:ext cx="285742" cy="2128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7228" y="3209925"/>
            <a:ext cx="3809904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</a:rPr>
              <a:t> </a:t>
            </a:r>
            <a:r>
              <a:rPr sz="1315" b="1">
                <a:solidFill>
                  <a:srgbClr val="4FC3F7"/>
                </a:solidFill>
              </a:rPr>
              <a:t>لا حاجة للتنقل</a:t>
            </a:r>
            <a:r>
              <a:rPr sz="1315" b="0">
                <a:solidFill>
                  <a:srgbClr val="FFFFFF"/>
                </a:solidFill>
              </a:rPr>
              <a:t> - الحصول على الاستشارة من منزلك بسهولة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171950"/>
            <a:ext cx="4952876" cy="971550"/>
          </a:xfrm>
          <a:prstGeom prst="roundRect">
            <a:avLst>
              <a:gd name="adj" fmla="val 2352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57628" y="43719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000499" y="4523597"/>
            <a:ext cx="285742" cy="2682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7228" y="4362450"/>
            <a:ext cx="3809904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</a:rPr>
              <a:t> </a:t>
            </a:r>
            <a:r>
              <a:rPr sz="1315" b="1">
                <a:solidFill>
                  <a:srgbClr val="4FC3F7"/>
                </a:solidFill>
              </a:rPr>
              <a:t>تجارب حقيقية</a:t>
            </a:r>
            <a:r>
              <a:rPr sz="1315" b="0">
                <a:solidFill>
                  <a:srgbClr val="FFFFFF"/>
                </a:solidFill>
              </a:rPr>
              <a:t> - معلومات مباشرة من طلاب نجحوا في نفس المسارات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50000">
              <a:srgbClr val="0D47A1"/>
            </a:gs>
            <a:gs pos="100000">
              <a:srgbClr val="1976D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904952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0504" y="4667249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571500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392" b="1">
                <a:solidFill>
                  <a:srgbClr val="FFFFFF"/>
                </a:solidFill>
              </a:rPr>
              <a:t>التأثير الاجتماعي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352" y="1857375"/>
            <a:ext cx="5619609" cy="4619625"/>
          </a:xfrm>
          <a:prstGeom prst="roundRect">
            <a:avLst>
              <a:gd name="adj" fmla="val 494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34246" y="2238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66BB6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277118" y="2413323"/>
            <a:ext cx="285742" cy="2216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4581" y="2362199"/>
            <a:ext cx="1228694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توجيه صحيح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1335" y="29527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66BB6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734206" y="3148109"/>
            <a:ext cx="285742" cy="1807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67493" y="3076574"/>
            <a:ext cx="12382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6642" y="3667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66BB6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4" y="3836242"/>
            <a:ext cx="285742" cy="2332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2185" y="3790949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وظيفة حقيقية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1335" y="43814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66BB6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734206" y="4576859"/>
            <a:ext cx="285742" cy="1807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7493" y="4505325"/>
            <a:ext cx="12382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5712" y="509587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66BB6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648583" y="5302897"/>
            <a:ext cx="285742" cy="15745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53116" y="5219700"/>
            <a:ext cx="1971625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خروج من دائرة الفقر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3324225"/>
            <a:ext cx="4857628" cy="1685925"/>
          </a:xfrm>
          <a:prstGeom prst="roundRect">
            <a:avLst>
              <a:gd name="adj" fmla="val 135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76638" y="379094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66BB6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67133" y="4046934"/>
            <a:ext cx="380990" cy="25003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2476" y="3609975"/>
            <a:ext cx="3286042" cy="11144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</a:rPr>
              <a:t> بناء </a:t>
            </a:r>
            <a:r>
              <a:rPr sz="1554" b="1">
                <a:solidFill>
                  <a:srgbClr val="66BB6A"/>
                </a:solidFill>
              </a:rPr>
              <a:t>مجتمع متماسك وسعيد</a:t>
            </a:r>
            <a:r>
              <a:rPr sz="1554" b="1">
                <a:solidFill>
                  <a:srgbClr val="FFFFFF"/>
                </a:solidFill>
              </a:rPr>
              <a:t>، حيث يعمل كل فرد في المجال الذي يبدع فيه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50000">
              <a:srgbClr val="0D47A1"/>
            </a:gs>
            <a:gs pos="100000">
              <a:srgbClr val="1976D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904952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0504" y="4476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571500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392" b="1">
                <a:solidFill>
                  <a:srgbClr val="FFFFFF"/>
                </a:solidFill>
              </a:rPr>
              <a:t>الفئة المستهدفة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6047" y="1857375"/>
            <a:ext cx="3428914" cy="4429125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4" y="2143125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620009" y="2378273"/>
            <a:ext cx="380990" cy="2917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10464" y="3095625"/>
            <a:ext cx="800079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9800"/>
                </a:solidFill>
              </a:rPr>
              <a:t>الطلاب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53456" y="4394404"/>
            <a:ext cx="171445" cy="884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96107" y="4295774"/>
            <a:ext cx="197162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البحث عن </a:t>
            </a:r>
            <a:r>
              <a:rPr sz="1196" b="1">
                <a:solidFill>
                  <a:srgbClr val="FF9800"/>
                </a:solidFill>
              </a:rPr>
              <a:t>المسار الصحيح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53456" y="4775404"/>
            <a:ext cx="171445" cy="884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96107" y="4676775"/>
            <a:ext cx="196210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الحاجة إلى </a:t>
            </a:r>
            <a:r>
              <a:rPr sz="1196" b="1">
                <a:solidFill>
                  <a:srgbClr val="FF9800"/>
                </a:solidFill>
              </a:rPr>
              <a:t>توجيه موثوق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648683" y="5156404"/>
            <a:ext cx="171445" cy="884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00879" y="5057775"/>
            <a:ext cx="175255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تجنب </a:t>
            </a:r>
            <a:r>
              <a:rPr sz="1196" b="1">
                <a:solidFill>
                  <a:srgbClr val="FF9800"/>
                </a:solidFill>
              </a:rPr>
              <a:t>القرارات الخاطئة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1390" y="1857375"/>
            <a:ext cx="3428914" cy="4429125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4857" y="2143125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905352" y="2363390"/>
            <a:ext cx="380990" cy="3214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00579" y="3095625"/>
            <a:ext cx="590535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9800"/>
                </a:solidFill>
              </a:rPr>
              <a:t>الآباء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86382" y="4251529"/>
            <a:ext cx="171445" cy="8849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3866" y="4152899"/>
            <a:ext cx="126679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شريك في القرار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53116" y="4775404"/>
            <a:ext cx="171445" cy="8849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67133" y="4533900"/>
            <a:ext cx="259073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مساعدة الأبناء في </a:t>
            </a:r>
            <a:r>
              <a:rPr sz="1196" b="1">
                <a:solidFill>
                  <a:srgbClr val="FF9800"/>
                </a:solidFill>
              </a:rPr>
              <a:t>الاختيار الصحيح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267393" y="5299279"/>
            <a:ext cx="171445" cy="884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52856" y="5200650"/>
            <a:ext cx="240976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9800"/>
                </a:solidFill>
              </a:rPr>
              <a:t>الاطمئنان</a:t>
            </a:r>
            <a:r>
              <a:rPr sz="1196" b="0">
                <a:solidFill>
                  <a:srgbClr val="FFFFFF"/>
                </a:solidFill>
              </a:rPr>
              <a:t> على مستقبل أبنائهم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1857375"/>
            <a:ext cx="3428914" cy="4429125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000199" y="2143125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190695" y="2378273"/>
            <a:ext cx="380990" cy="29170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90655" y="3095625"/>
            <a:ext cx="1181070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9800"/>
                </a:solidFill>
              </a:rPr>
              <a:t>المرشدون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286042" y="4394404"/>
            <a:ext cx="171445" cy="8849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04892" y="4295774"/>
            <a:ext cx="188590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9800"/>
                </a:solidFill>
              </a:rPr>
              <a:t>نخبة الطلاب</a:t>
            </a:r>
            <a:r>
              <a:rPr sz="1196" b="0">
                <a:solidFill>
                  <a:srgbClr val="FFFFFF"/>
                </a:solidFill>
              </a:rPr>
              <a:t> المتفوقون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257468" y="4775404"/>
            <a:ext cx="171445" cy="8849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42991" y="4676775"/>
            <a:ext cx="181922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مشاركة </a:t>
            </a:r>
            <a:r>
              <a:rPr sz="1196" b="1">
                <a:solidFill>
                  <a:srgbClr val="FF9800"/>
                </a:solidFill>
              </a:rPr>
              <a:t>تجارب حقيقية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181270" y="5156404"/>
            <a:ext cx="171445" cy="8849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409664" y="5057775"/>
            <a:ext cx="167635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فرصة </a:t>
            </a:r>
            <a:r>
              <a:rPr sz="1196" b="1">
                <a:solidFill>
                  <a:srgbClr val="FF9800"/>
                </a:solidFill>
              </a:rPr>
              <a:t>للدخل الإضافي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50000">
              <a:srgbClr val="0D47A1"/>
            </a:gs>
            <a:gs pos="100000">
              <a:srgbClr val="1976D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904952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0504" y="476250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571500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392" b="1">
                <a:solidFill>
                  <a:srgbClr val="FFFFFF"/>
                </a:solidFill>
              </a:rPr>
              <a:t>خطة التنفيذ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6047" y="1857375"/>
            <a:ext cx="3428914" cy="4714875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2" y="2047874"/>
            <a:ext cx="419089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784" b="1">
                <a:solidFill>
                  <a:srgbClr val="7E57C2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72485" y="2143125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7E57C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34406" y="2384862"/>
            <a:ext cx="342891" cy="1832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1790" y="3000375"/>
            <a:ext cx="2857428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7E57C2"/>
                </a:solidFill>
              </a:rPr>
              <a:t>تطوير التطبيق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48723" y="403355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81790" y="3829050"/>
            <a:ext cx="25716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تصميم واجهة المستخدم وتجربة الاستخدام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48723" y="4576482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582" y="4514850"/>
            <a:ext cx="226689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تطوير نظام الفيديو والاتصالات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48723" y="5119407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81790" y="4914900"/>
            <a:ext cx="25716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7E57C2"/>
                </a:solidFill>
              </a:rPr>
              <a:t>البحث عن النخبة</a:t>
            </a:r>
            <a:r>
              <a:rPr sz="1196" b="0">
                <a:solidFill>
                  <a:srgbClr val="FFFFFF"/>
                </a:solidFill>
              </a:rPr>
              <a:t> من المرشدين المحتملين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48723" y="58052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81790" y="5600700"/>
            <a:ext cx="25716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بناء قاعدة بيانات للمسارات التعليمية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1390" y="1857375"/>
            <a:ext cx="3428914" cy="4714875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885" y="2047874"/>
            <a:ext cx="419089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784" b="1">
                <a:solidFill>
                  <a:srgbClr val="7E57C2"/>
                </a:solidFill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7828" y="2143125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7E57C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019749" y="2330176"/>
            <a:ext cx="342891" cy="29264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67133" y="3000375"/>
            <a:ext cx="2857428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7E57C2"/>
                </a:solidFill>
              </a:rPr>
              <a:t>الدمج والاختبار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34066" y="3890682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19569" y="3829050"/>
            <a:ext cx="201924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7E57C2"/>
                </a:solidFill>
              </a:rPr>
              <a:t>دمج الموجهين</a:t>
            </a:r>
            <a:r>
              <a:rPr sz="1196" b="0">
                <a:solidFill>
                  <a:srgbClr val="FFFFFF"/>
                </a:solidFill>
              </a:rPr>
              <a:t> في النظام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34066" y="4290732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86222" y="4229100"/>
            <a:ext cx="215259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اختبار جودة مكالمات الفيديو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34066" y="483365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67133" y="4629150"/>
            <a:ext cx="25716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برنامج تجريبي مع مجموعة محدودة من الطلاب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34066" y="537658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38579" y="5314950"/>
            <a:ext cx="24002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جمع الملاحظات وتحسين النظام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33" y="1857375"/>
            <a:ext cx="3428914" cy="4714875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28" y="2047874"/>
            <a:ext cx="419089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784" b="1">
                <a:solidFill>
                  <a:srgbClr val="7E57C2"/>
                </a:solidFill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43171" y="2143125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7E57C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305092" y="2333132"/>
            <a:ext cx="342891" cy="28673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2476" y="3000375"/>
            <a:ext cx="2857428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7E57C2"/>
                </a:solidFill>
              </a:rPr>
              <a:t>الإطلاق والتسويق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19409" y="3890682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628734" y="3829050"/>
            <a:ext cx="189542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الإطلاق الرسمي للتطبيق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19409" y="4433607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2476" y="4229100"/>
            <a:ext cx="25716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حملات تسويقية عبر وسائل التواصل الاجتماعي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19409" y="4976532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95347" y="4914900"/>
            <a:ext cx="242881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التعاون مع المدارس والجامعات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19409" y="5376582"/>
            <a:ext cx="190495" cy="1624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5822" y="5314950"/>
            <a:ext cx="24383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توسيع قاعدة المرشدين والخبراء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50000">
              <a:srgbClr val="0D47A1"/>
            </a:gs>
            <a:gs pos="100000">
              <a:srgbClr val="1976D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904952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0504" y="4476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571500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392" b="1">
                <a:solidFill>
                  <a:srgbClr val="FFFFFF"/>
                </a:solidFill>
              </a:rPr>
              <a:t>نموذج العمل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91375" y="1857375"/>
            <a:ext cx="2533586" cy="4429125"/>
          </a:xfrm>
          <a:prstGeom prst="roundRect">
            <a:avLst>
              <a:gd name="adj" fmla="val 90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4246" y="2000250"/>
            <a:ext cx="3143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26A69A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15357" y="20954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26A69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58228" y="2302522"/>
            <a:ext cx="285742" cy="157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29494" y="2809875"/>
            <a:ext cx="2057348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26A69A"/>
                </a:solidFill>
              </a:rPr>
              <a:t>عمولات مكالمات الفيديو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29494" y="3809999"/>
            <a:ext cx="2057348" cy="22383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نسبة مئوية من كل استشارة فيديو بين الطالب والمرشد </a:t>
            </a:r>
            <a:r>
              <a:rPr sz="1104"/>
              <a:t>
</a:t>
            </a:r>
            <a:r>
              <a:rPr sz="1104"/>
              <a:t>
</a:t>
            </a: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26A69A"/>
                </a:solidFill>
              </a:rPr>
              <a:t>نموذج دفع حسب الاستخدام</a:t>
            </a:r>
            <a:r>
              <a:rPr sz="1076" b="0">
                <a:solidFill>
                  <a:srgbClr val="FFFFFF"/>
                </a:solidFill>
              </a:rPr>
              <a:t> يضمن تدفق إيرادات مستمر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4" y="1857375"/>
            <a:ext cx="2533586" cy="4429125"/>
          </a:xfrm>
          <a:prstGeom prst="roundRect">
            <a:avLst>
              <a:gd name="adj" fmla="val 90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2540" y="2000250"/>
            <a:ext cx="3143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26A69A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3651" y="20954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26A69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86522" y="2273364"/>
            <a:ext cx="285742" cy="2157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57788" y="2809875"/>
            <a:ext cx="2057348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26A69A"/>
                </a:solidFill>
              </a:rPr>
              <a:t>عمولات الوكالات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788" y="3381375"/>
            <a:ext cx="2057348" cy="26670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26A69A"/>
                </a:solidFill>
              </a:rPr>
              <a:t>20% عمولة</a:t>
            </a:r>
            <a:r>
              <a:rPr sz="1076" b="0">
                <a:solidFill>
                  <a:srgbClr val="FFFFFF"/>
                </a:solidFill>
              </a:rPr>
              <a:t> لكل طالب يتم إرساله للدراسة بالخارج </a:t>
            </a:r>
            <a:r>
              <a:rPr sz="1104"/>
              <a:t>
</a:t>
            </a:r>
            <a:r>
              <a:rPr sz="1104"/>
              <a:t>
</a:t>
            </a:r>
            <a:r>
              <a:rPr sz="1076" b="0">
                <a:solidFill>
                  <a:srgbClr val="FFFFFF"/>
                </a:solidFill>
              </a:rPr>
              <a:t> شراكات مع وكالات تعليمية دولية لزيادة الإيرادات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8439" y="1857375"/>
            <a:ext cx="2533586" cy="4429125"/>
          </a:xfrm>
          <a:prstGeom prst="roundRect">
            <a:avLst>
              <a:gd name="adj" fmla="val 90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1310" y="2000250"/>
            <a:ext cx="3143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26A69A"/>
                </a:solidFill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2420" y="20954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26A69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314817" y="2264617"/>
            <a:ext cx="285742" cy="2332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76558" y="2809875"/>
            <a:ext cx="2057348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26A69A"/>
                </a:solidFill>
              </a:rPr>
              <a:t>اشتراكات المرشدين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6558" y="3381375"/>
            <a:ext cx="2057348" cy="26670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رسوم شهرية للمرشدين ليتم عرضهم في </a:t>
            </a:r>
            <a:r>
              <a:rPr sz="1076" b="1">
                <a:solidFill>
                  <a:srgbClr val="26A69A"/>
                </a:solidFill>
              </a:rPr>
              <a:t>"المميزون"</a:t>
            </a:r>
            <a:r>
              <a:rPr sz="1076" b="0">
                <a:solidFill>
                  <a:srgbClr val="FFFFFF"/>
                </a:solidFill>
              </a:rPr>
              <a:t> على الصفحة الرئيسية </a:t>
            </a:r>
            <a:r>
              <a:rPr sz="1104"/>
              <a:t>
</a:t>
            </a:r>
            <a:r>
              <a:rPr sz="1104"/>
              <a:t>
</a:t>
            </a:r>
            <a:r>
              <a:rPr sz="1076" b="0">
                <a:solidFill>
                  <a:srgbClr val="FFFFFF"/>
                </a:solidFill>
              </a:rPr>
              <a:t> زيادة الرؤية والوصول للمرشدين مقابل رسوم ثابتة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1857375"/>
            <a:ext cx="2533586" cy="4429125"/>
          </a:xfrm>
          <a:prstGeom prst="roundRect">
            <a:avLst>
              <a:gd name="adj" fmla="val 90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604" y="2000250"/>
            <a:ext cx="3143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26A69A"/>
                </a:solidFill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90715" y="20954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26A69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533586" y="2274822"/>
            <a:ext cx="285742" cy="21285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4852" y="2809875"/>
            <a:ext cx="2057348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26A69A"/>
                </a:solidFill>
              </a:rPr>
              <a:t>المنتجات الرقمية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852" y="3381375"/>
            <a:ext cx="2057348" cy="26670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بيع دليل الدراسة في </a:t>
            </a:r>
            <a:r>
              <a:rPr sz="1076" b="1">
                <a:solidFill>
                  <a:srgbClr val="26A69A"/>
                </a:solidFill>
              </a:rPr>
              <a:t>الصين وألمانيا</a:t>
            </a:r>
            <a:r>
              <a:rPr sz="1076" b="0">
                <a:solidFill>
                  <a:srgbClr val="FFFFFF"/>
                </a:solidFill>
              </a:rPr>
              <a:t> وغيرها من الدول </a:t>
            </a:r>
            <a:r>
              <a:rPr sz="1104"/>
              <a:t>
</a:t>
            </a:r>
            <a:r>
              <a:rPr sz="1104"/>
              <a:t>
</a:t>
            </a:r>
            <a:r>
              <a:rPr sz="1076" b="0">
                <a:solidFill>
                  <a:srgbClr val="FFFFFF"/>
                </a:solidFill>
              </a:rPr>
              <a:t> محتوى تعليمي متخصص يمكن تحميله بسهولة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50000">
              <a:srgbClr val="0D47A1"/>
            </a:gs>
            <a:gs pos="100000">
              <a:srgbClr val="1976D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904952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0504" y="4476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29114" y="752475"/>
            <a:ext cx="1323941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0"/>
              </a:spcAft>
            </a:pPr>
            <a:r>
              <a:rPr sz="2392" b="1">
                <a:solidFill>
                  <a:srgbClr val="FFFFFF"/>
                </a:solidFill>
              </a:rPr>
              <a:t>الخاتمة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19609" y="1943100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E91E6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810104" y="2179198"/>
            <a:ext cx="571485" cy="4803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90775" y="3181350"/>
            <a:ext cx="6200619" cy="638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355"/>
              </a:lnSpc>
              <a:spcBef>
                <a:spcPts val="0"/>
              </a:spcBef>
              <a:spcAft>
                <a:spcPts val="1300"/>
              </a:spcAft>
            </a:pPr>
            <a:r>
              <a:rPr sz="2870" b="1">
                <a:solidFill>
                  <a:srgbClr val="FFFFFF"/>
                </a:solidFill>
              </a:rPr>
              <a:t>كن شريكاً في </a:t>
            </a:r>
            <a:r>
              <a:rPr sz="2870" b="1">
                <a:solidFill>
                  <a:srgbClr val="E91E63"/>
                </a:solidFill>
              </a:rPr>
              <a:t>توجيه جيل كامل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6478" y="4019549"/>
            <a:ext cx="6438739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ساعدنا في بناء مستقبل أفضل للشباب المغربي من خلال توفير التوجيه الصحيح والموثوق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512" y="5467349"/>
            <a:ext cx="2590735" cy="638175"/>
          </a:xfrm>
          <a:prstGeom prst="roundRect">
            <a:avLst>
              <a:gd name="adj" fmla="val 2388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629534" y="5698807"/>
            <a:ext cx="228594" cy="1657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43631" y="5610224"/>
            <a:ext cx="1743031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contact@bawsala.ma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62380" y="5467349"/>
            <a:ext cx="2362140" cy="638175"/>
          </a:xfrm>
          <a:prstGeom prst="roundRect">
            <a:avLst>
              <a:gd name="adj" fmla="val 2388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57808" y="5693092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00499" y="5610224"/>
            <a:ext cx="1514437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+212 600 000 000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95447" y="5467349"/>
            <a:ext cx="2276418" cy="638175"/>
          </a:xfrm>
          <a:prstGeom prst="roundRect">
            <a:avLst>
              <a:gd name="adj" fmla="val 2388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914677" y="5684519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333566" y="5610224"/>
            <a:ext cx="1428714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www.bawsala.ma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