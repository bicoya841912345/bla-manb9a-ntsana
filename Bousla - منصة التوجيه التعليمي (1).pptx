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jpg"/><Relationship Id="rId6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jpg"/><Relationship Id="rId6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jpg"/><Relationship Id="rId9" Type="http://schemas.openxmlformats.org/officeDocument/2006/relationships/image" Target="../media/image19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Relationship Id="rId12" Type="http://schemas.openxmlformats.org/officeDocument/2006/relationships/image" Target="../media/image22.png"/><Relationship Id="rId13" Type="http://schemas.openxmlformats.org/officeDocument/2006/relationships/image" Target="../media/image23.png"/><Relationship Id="rId14" Type="http://schemas.openxmlformats.org/officeDocument/2006/relationships/image" Target="../media/image24.jpg"/><Relationship Id="rId15" Type="http://schemas.openxmlformats.org/officeDocument/2006/relationships/image" Target="../media/image25.png"/><Relationship Id="rId16" Type="http://schemas.openxmlformats.org/officeDocument/2006/relationships/image" Target="../media/image26.png"/><Relationship Id="rId17" Type="http://schemas.openxmlformats.org/officeDocument/2006/relationships/image" Target="../media/image27.png"/><Relationship Id="rId18" Type="http://schemas.openxmlformats.org/officeDocument/2006/relationships/image" Target="../media/image28.png"/><Relationship Id="rId19" Type="http://schemas.openxmlformats.org/officeDocument/2006/relationships/image" Target="../media/image2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jpg"/><Relationship Id="rId6" Type="http://schemas.openxmlformats.org/officeDocument/2006/relationships/image" Target="../media/image3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image" Target="../media/image43.png"/><Relationship Id="rId8" Type="http://schemas.openxmlformats.org/officeDocument/2006/relationships/image" Target="../media/image44.png"/><Relationship Id="rId9" Type="http://schemas.openxmlformats.org/officeDocument/2006/relationships/image" Target="../media/image27.png"/><Relationship Id="rId10" Type="http://schemas.openxmlformats.org/officeDocument/2006/relationships/image" Target="../media/image45.png"/><Relationship Id="rId11" Type="http://schemas.openxmlformats.org/officeDocument/2006/relationships/image" Target="../media/image46.png"/><Relationship Id="rId12" Type="http://schemas.openxmlformats.org/officeDocument/2006/relationships/image" Target="../media/image47.png"/><Relationship Id="rId13" Type="http://schemas.openxmlformats.org/officeDocument/2006/relationships/image" Target="../media/image48.png"/><Relationship Id="rId14" Type="http://schemas.openxmlformats.org/officeDocument/2006/relationships/image" Target="../media/image49.png"/><Relationship Id="rId15" Type="http://schemas.openxmlformats.org/officeDocument/2006/relationships/image" Target="../media/image21.png"/><Relationship Id="rId16" Type="http://schemas.openxmlformats.org/officeDocument/2006/relationships/image" Target="../media/image5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21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56.png"/><Relationship Id="rId9" Type="http://schemas.openxmlformats.org/officeDocument/2006/relationships/image" Target="../media/image42.png"/><Relationship Id="rId10" Type="http://schemas.openxmlformats.org/officeDocument/2006/relationships/image" Target="../media/image57.jpg"/><Relationship Id="rId11" Type="http://schemas.openxmlformats.org/officeDocument/2006/relationships/image" Target="../media/image5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Relationship Id="rId3" Type="http://schemas.openxmlformats.org/officeDocument/2006/relationships/image" Target="../media/image60.png"/><Relationship Id="rId4" Type="http://schemas.openxmlformats.org/officeDocument/2006/relationships/image" Target="../media/image61.png"/><Relationship Id="rId5" Type="http://schemas.openxmlformats.org/officeDocument/2006/relationships/image" Target="../media/image6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Relationship Id="rId3" Type="http://schemas.openxmlformats.org/officeDocument/2006/relationships/image" Target="../media/image64.png"/><Relationship Id="rId4" Type="http://schemas.openxmlformats.org/officeDocument/2006/relationships/image" Target="../media/image65.png"/><Relationship Id="rId5" Type="http://schemas.openxmlformats.org/officeDocument/2006/relationships/image" Target="../media/image66.jpg"/><Relationship Id="rId6" Type="http://schemas.openxmlformats.org/officeDocument/2006/relationships/image" Target="../media/image6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3A8A"/>
            </a:gs>
            <a:gs pos="100000">
              <a:srgbClr val="2563EB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1428714" y="-1428750"/>
            <a:ext cx="2857428" cy="28575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>
                  <a:alpha val="10000"/>
                </a:srgbClr>
              </a:gs>
              <a:gs pos="100000">
                <a:srgbClr val="FFFFFF">
                  <a:alpha val="5000"/>
                </a:srgbClr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239219" y="5905500"/>
            <a:ext cx="1904952" cy="190499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>
                  <a:alpha val="10000"/>
                </a:srgbClr>
              </a:gs>
              <a:gs pos="100000">
                <a:srgbClr val="FFFFFF">
                  <a:alpha val="5000"/>
                </a:srgbClr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810504" y="952499"/>
            <a:ext cx="1428714" cy="142875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>
                  <a:alpha val="10000"/>
                </a:srgbClr>
              </a:gs>
              <a:gs pos="100000">
                <a:srgbClr val="FFFFFF">
                  <a:alpha val="5000"/>
                </a:srgbClr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143371" y="1057275"/>
            <a:ext cx="1904952" cy="1904999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65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238619" y="1152524"/>
            <a:ext cx="1714457" cy="1714500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533886" y="1447800"/>
            <a:ext cx="76198" cy="1523999"/>
          </a:xfrm>
          <a:prstGeom prst="roundRect">
            <a:avLst>
              <a:gd name="adj" fmla="val 100000"/>
            </a:avLst>
          </a:prstGeom>
          <a:gradFill rotWithShape="1">
            <a:gsLst>
              <a:gs pos="0">
                <a:srgbClr val="EF4444"/>
              </a:gs>
              <a:gs pos="100000">
                <a:srgbClr val="FFFFFF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52976" y="1866899"/>
            <a:ext cx="285742" cy="2857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48223" y="1171575"/>
            <a:ext cx="9524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</a:rPr>
              <a:t>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7828" y="1885950"/>
            <a:ext cx="76198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57748" y="2600325"/>
            <a:ext cx="76198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668" y="1885950"/>
            <a:ext cx="12382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</a:rPr>
              <a:t>W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283598" y="2266950"/>
            <a:ext cx="710321" cy="95249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067173" y="3343275"/>
            <a:ext cx="2057348" cy="12477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4186" b="1">
                <a:solidFill>
                  <a:srgbClr val="FFFFFF"/>
                </a:solidFill>
              </a:rPr>
              <a:t>Bousla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52956" y="4733925"/>
            <a:ext cx="676258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674" b="0">
                <a:solidFill>
                  <a:srgbClr val="FBBF24"/>
                </a:solidFill>
              </a:rPr>
              <a:t>بوصلة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24361" y="5248275"/>
            <a:ext cx="1142971" cy="38100"/>
          </a:xfrm>
          <a:prstGeom prst="roundRect">
            <a:avLst>
              <a:gd name="adj" fmla="val 100000"/>
            </a:avLst>
          </a:prstGeom>
          <a:gradFill rotWithShape="1">
            <a:gsLst>
              <a:gs pos="0">
                <a:srgbClr val="FBBF24"/>
              </a:gs>
              <a:gs pos="100000">
                <a:srgbClr val="FBBF24">
                  <a:alpha val="0"/>
                </a:srgbClr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81330" y="5476875"/>
            <a:ext cx="4619509" cy="3238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145"/>
              </a:lnSpc>
              <a:spcBef>
                <a:spcPts val="325"/>
              </a:spcBef>
              <a:spcAft>
                <a:spcPts val="0"/>
              </a:spcAft>
            </a:pPr>
            <a:r>
              <a:rPr sz="1435" b="0">
                <a:solidFill>
                  <a:srgbClr val="FFFFFF"/>
                </a:solidFill>
              </a:rPr>
              <a:t>لأن 12 سنة من الدراسة لا يجب أن تضيع بقرار خاطئ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3A8A"/>
            </a:gs>
            <a:gs pos="100000">
              <a:srgbClr val="2563EB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1428714" y="-1428750"/>
            <a:ext cx="2857428" cy="28575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>
                  <a:alpha val="10000"/>
                </a:srgbClr>
              </a:gs>
              <a:gs pos="100000">
                <a:srgbClr val="FFFFFF">
                  <a:alpha val="5000"/>
                </a:srgbClr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239219" y="5905500"/>
            <a:ext cx="1904952" cy="190499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>
                  <a:alpha val="10000"/>
                </a:srgbClr>
              </a:gs>
              <a:gs pos="100000">
                <a:srgbClr val="FFFFFF">
                  <a:alpha val="5000"/>
                </a:srgbClr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810504" y="952499"/>
            <a:ext cx="1428714" cy="142875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>
                  <a:alpha val="10000"/>
                </a:srgbClr>
              </a:gs>
              <a:gs pos="100000">
                <a:srgbClr val="FFFFFF">
                  <a:alpha val="5000"/>
                </a:srgbClr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38719" y="933449"/>
            <a:ext cx="5286242" cy="714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950"/>
              </a:spcAft>
            </a:pPr>
            <a:r>
              <a:rPr sz="2392" b="1">
                <a:solidFill>
                  <a:srgbClr val="FFFFFF"/>
                </a:solidFill>
              </a:rPr>
              <a:t>المشكلة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8719" y="1933574"/>
            <a:ext cx="5286242" cy="1171575"/>
          </a:xfrm>
          <a:prstGeom prst="roundRect">
            <a:avLst>
              <a:gd name="adj" fmla="val 19512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762980" y="2228850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0896327" y="2432538"/>
            <a:ext cx="304792" cy="16412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29214" y="2124075"/>
            <a:ext cx="4143271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435" b="1">
                <a:solidFill>
                  <a:srgbClr val="FFFFFF"/>
                </a:solidFill>
              </a:rPr>
              <a:t>ضياع طاقات وطنية هائلة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9214" y="2600325"/>
            <a:ext cx="4143271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عقول متميزة تفشل بسبب التوجيه الخاطئ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8719" y="3343275"/>
            <a:ext cx="5286242" cy="1171575"/>
          </a:xfrm>
          <a:prstGeom prst="roundRect">
            <a:avLst>
              <a:gd name="adj" fmla="val 19512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762980" y="3638550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896327" y="3815861"/>
            <a:ext cx="304792" cy="21687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29214" y="3533774"/>
            <a:ext cx="4143271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435" b="1">
                <a:solidFill>
                  <a:srgbClr val="FFFFFF"/>
                </a:solidFill>
              </a:rPr>
              <a:t>الحاجز المالي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9214" y="4010024"/>
            <a:ext cx="4143271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غلاء مكاتب الاستشارة وتكاليف التنقل للمدن الكبرى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8719" y="4752974"/>
            <a:ext cx="5286242" cy="1171575"/>
          </a:xfrm>
          <a:prstGeom prst="roundRect">
            <a:avLst>
              <a:gd name="adj" fmla="val 19512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762980" y="5048250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896327" y="5210907"/>
            <a:ext cx="304792" cy="24618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29214" y="4943475"/>
            <a:ext cx="4143271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435" b="1">
                <a:solidFill>
                  <a:srgbClr val="FFFFFF"/>
                </a:solidFill>
              </a:rPr>
              <a:t>المخاطرة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9214" y="5419725"/>
            <a:ext cx="4143271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12 سنة من الدراسة = </a:t>
            </a:r>
            <a:r>
              <a:rPr sz="1076" b="1">
                <a:solidFill>
                  <a:srgbClr val="FBBF24"/>
                </a:solidFill>
              </a:rPr>
              <a:t>بطالة وفقر</a:t>
            </a:r>
          </a:p>
        </p:txBody>
      </p:sp>
      <p:pic>
        <p:nvPicPr>
          <p:cNvPr id="22" name="Picture 21" descr="image.jp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162020" y="1285875"/>
            <a:ext cx="4286142" cy="428625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3924201" y="1476375"/>
            <a:ext cx="1342991" cy="466724"/>
          </a:xfrm>
          <a:prstGeom prst="roundRect">
            <a:avLst>
              <a:gd name="adj" fmla="val 81632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4914777" y="1638860"/>
            <a:ext cx="190495" cy="151279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076598" y="1552574"/>
            <a:ext cx="771505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</a:rPr>
              <a:t>قرار خاطئ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62020" y="1285875"/>
            <a:ext cx="4286142" cy="4286250"/>
          </a:xfrm>
          <a:prstGeom prst="rect">
            <a:avLst/>
          </a:prstGeom>
          <a:gradFill rotWithShape="1">
            <a:gsLst>
              <a:gs pos="0">
                <a:srgbClr val="1A3A8A">
                  <a:alpha val="70000"/>
                </a:srgbClr>
              </a:gs>
              <a:gs pos="100000">
                <a:srgbClr val="2563EB">
                  <a:alpha val="50000"/>
                </a:srgbClr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429014" y="3190874"/>
            <a:ext cx="742931" cy="590549"/>
          </a:xfrm>
          <a:prstGeom prst="roundRect">
            <a:avLst>
              <a:gd name="adj" fmla="val 96774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29014" y="3190874"/>
            <a:ext cx="742931" cy="5905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315" b="1">
                <a:solidFill>
                  <a:srgbClr val="1A3A8A"/>
                </a:solidFill>
              </a:rPr>
              <a:t>65%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47763" y="3924299"/>
            <a:ext cx="3714657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من الطلاب يغيرون تخصصاتهم بعد سنة من الدراسة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29014" y="4238624"/>
            <a:ext cx="742931" cy="590549"/>
          </a:xfrm>
          <a:prstGeom prst="roundRect">
            <a:avLst>
              <a:gd name="adj" fmla="val 96774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29014" y="4238624"/>
            <a:ext cx="742931" cy="5905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315" b="1">
                <a:solidFill>
                  <a:srgbClr val="1A3A8A"/>
                </a:solidFill>
              </a:rPr>
              <a:t>70%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47763" y="4972050"/>
            <a:ext cx="3714657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من الخريجين يعملون في مجالات غير تخصصاتهم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3A8A"/>
            </a:gs>
            <a:gs pos="100000">
              <a:srgbClr val="2563EB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38719" y="781050"/>
            <a:ext cx="5286242" cy="714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950"/>
              </a:spcAft>
            </a:pPr>
            <a:r>
              <a:rPr sz="2392" b="1">
                <a:solidFill>
                  <a:srgbClr val="FFFFFF"/>
                </a:solidFill>
              </a:rPr>
              <a:t>الحل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38719" y="1771650"/>
            <a:ext cx="5286242" cy="1485900"/>
          </a:xfrm>
          <a:prstGeom prst="roundRect">
            <a:avLst>
              <a:gd name="adj" fmla="val 15384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762980" y="2228850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0896327" y="2385646"/>
            <a:ext cx="304792" cy="2579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29214" y="1962149"/>
            <a:ext cx="4143271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435" b="1">
                <a:solidFill>
                  <a:srgbClr val="FFFFFF"/>
                </a:solidFill>
              </a:rPr>
              <a:t>بوصلة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29214" y="2438400"/>
            <a:ext cx="4143271" cy="6286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الاستفادة من المواهب المهدرة من خلال ربطها بالمسار الصحيح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8719" y="3505199"/>
            <a:ext cx="5286242" cy="1171575"/>
          </a:xfrm>
          <a:prstGeom prst="roundRect">
            <a:avLst>
              <a:gd name="adj" fmla="val 19512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762980" y="3800475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896327" y="3963132"/>
            <a:ext cx="304792" cy="2461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29214" y="3695699"/>
            <a:ext cx="4143271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435" b="1">
                <a:solidFill>
                  <a:srgbClr val="FFFFFF"/>
                </a:solidFill>
              </a:rPr>
              <a:t>إرشاد ميسور التكلفة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9214" y="4171950"/>
            <a:ext cx="4143271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توفير </a:t>
            </a:r>
            <a:r>
              <a:rPr sz="1076" b="1">
                <a:solidFill>
                  <a:srgbClr val="FBBF24"/>
                </a:solidFill>
              </a:rPr>
              <a:t>80%</a:t>
            </a:r>
            <a:r>
              <a:rPr sz="1076" b="0">
                <a:solidFill>
                  <a:srgbClr val="FFFFFF"/>
                </a:solidFill>
              </a:rPr>
              <a:t> من تكاليف الاستشارات التقليدية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8719" y="4914900"/>
            <a:ext cx="5286242" cy="1171575"/>
          </a:xfrm>
          <a:prstGeom prst="roundRect">
            <a:avLst>
              <a:gd name="adj" fmla="val 19512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762980" y="5210174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896327" y="5383090"/>
            <a:ext cx="304792" cy="22566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29214" y="5105400"/>
            <a:ext cx="4143271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435" b="1">
                <a:solidFill>
                  <a:srgbClr val="FFFFFF"/>
                </a:solidFill>
              </a:rPr>
              <a:t>لا حاجة للتنقل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9214" y="5581649"/>
            <a:ext cx="4143271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استشارات مباشرة من منزلك عبر الفيديو</a:t>
            </a:r>
          </a:p>
        </p:txBody>
      </p:sp>
      <p:pic>
        <p:nvPicPr>
          <p:cNvPr id="18" name="Picture 17" descr="image.jp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162020" y="1285875"/>
            <a:ext cx="4286142" cy="428625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3867053" y="1476375"/>
            <a:ext cx="1390615" cy="466724"/>
          </a:xfrm>
          <a:prstGeom prst="roundRect">
            <a:avLst>
              <a:gd name="adj" fmla="val 81632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4914777" y="1633257"/>
            <a:ext cx="190495" cy="16248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019449" y="1552574"/>
            <a:ext cx="819129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A3A8A"/>
                </a:solidFill>
              </a:rPr>
              <a:t>حل حقيقي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62020" y="1285875"/>
            <a:ext cx="4286142" cy="4286250"/>
          </a:xfrm>
          <a:prstGeom prst="rect">
            <a:avLst/>
          </a:prstGeom>
          <a:gradFill rotWithShape="1">
            <a:gsLst>
              <a:gs pos="0">
                <a:srgbClr val="1A3A8A">
                  <a:alpha val="70000"/>
                </a:srgbClr>
              </a:gs>
              <a:gs pos="100000">
                <a:srgbClr val="2563EB">
                  <a:alpha val="50000"/>
                </a:srgbClr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314717" y="3190874"/>
            <a:ext cx="857228" cy="590549"/>
          </a:xfrm>
          <a:prstGeom prst="roundRect">
            <a:avLst>
              <a:gd name="adj" fmla="val 96774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14717" y="3190874"/>
            <a:ext cx="857228" cy="5905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315" b="1">
                <a:solidFill>
                  <a:srgbClr val="1A3A8A"/>
                </a:solidFill>
              </a:rPr>
              <a:t>+85%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47763" y="3924299"/>
            <a:ext cx="3714657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زيادة فرص الحصول على وظيفة مناسبة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291" y="4238624"/>
            <a:ext cx="828654" cy="590549"/>
          </a:xfrm>
          <a:prstGeom prst="roundRect">
            <a:avLst>
              <a:gd name="adj" fmla="val 96774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43291" y="4238624"/>
            <a:ext cx="828654" cy="5905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315" b="1">
                <a:solidFill>
                  <a:srgbClr val="1A3A8A"/>
                </a:solidFill>
              </a:rPr>
              <a:t>-60%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7763" y="4972050"/>
            <a:ext cx="3714657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انخفاض معدلات التسرب الجامعي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3A8A"/>
            </a:gs>
            <a:gs pos="100000">
              <a:srgbClr val="2563EB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476249"/>
            <a:ext cx="10858228" cy="714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950"/>
              </a:spcAft>
            </a:pPr>
            <a:r>
              <a:rPr sz="2392" b="1">
                <a:solidFill>
                  <a:srgbClr val="FFFFFF"/>
                </a:solidFill>
              </a:rPr>
              <a:t>الموجهون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6733" y="1476375"/>
            <a:ext cx="10858228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0"/>
              </a:spcAft>
            </a:pPr>
            <a:r>
              <a:rPr sz="1315" b="0">
                <a:solidFill>
                  <a:srgbClr val="FFFFFF"/>
                </a:solidFill>
              </a:rPr>
              <a:t>أهم أصولنا - ثلاث فئات من الخبراء لتوجيهك نحو النجاح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67473" y="2257425"/>
            <a:ext cx="3457488" cy="5705475"/>
          </a:xfrm>
          <a:prstGeom prst="roundRect">
            <a:avLst>
              <a:gd name="adj" fmla="val 11019"/>
            </a:avLst>
          </a:prstGeom>
          <a:solidFill>
            <a:srgbClr val="FFFFFF">
              <a:alpha val="15000"/>
            </a:srgbClr>
          </a:solidFill>
          <a:ln w="41275">
            <a:solidFill>
              <a:srgbClr val="798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067473" y="2305049"/>
            <a:ext cx="3457488" cy="2286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10344" y="2447924"/>
            <a:ext cx="1190595" cy="380999"/>
          </a:xfrm>
          <a:prstGeom prst="roundRect">
            <a:avLst>
              <a:gd name="adj" fmla="val 10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134246" y="2578553"/>
            <a:ext cx="152396" cy="11974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324641" y="2495550"/>
            <a:ext cx="761980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A3A8A"/>
                </a:solidFill>
              </a:rPr>
              <a:t>طالب موجه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05592" y="4829175"/>
            <a:ext cx="2981250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FFFFFF"/>
                </a:solidFill>
              </a:rPr>
              <a:t> </a:t>
            </a:r>
            <a:r>
              <a:rPr sz="1435" b="1">
                <a:solidFill>
                  <a:srgbClr val="FFFFFF"/>
                </a:solidFill>
              </a:rPr>
              <a:t>طالب موجه</a:t>
            </a:r>
            <a:r>
              <a:rPr sz="1435" b="1">
                <a:solidFill>
                  <a:srgbClr val="FFFFFF"/>
                </a:solidFill>
              </a:rPr>
              <a:t> 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058248" y="4959667"/>
            <a:ext cx="228594" cy="1771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305592" y="5400675"/>
            <a:ext cx="2981250" cy="5143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1300"/>
              </a:spcAft>
            </a:pPr>
            <a:r>
              <a:rPr sz="1076" b="0">
                <a:solidFill>
                  <a:srgbClr val="FFFFFF"/>
                </a:solidFill>
              </a:rPr>
              <a:t>طالب جامعي متفوق يشارك خبرته الأكاديمية الحديثة مع التلاميذ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5592" y="6105525"/>
            <a:ext cx="2981250" cy="476249"/>
          </a:xfrm>
          <a:prstGeom prst="roundRect">
            <a:avLst>
              <a:gd name="adj" fmla="val 40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0953476" y="6259605"/>
            <a:ext cx="190495" cy="16808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067573" y="6200775"/>
            <a:ext cx="1790655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خبرة </a:t>
            </a:r>
            <a:r>
              <a:rPr sz="956" b="1">
                <a:solidFill>
                  <a:srgbClr val="FBBF24"/>
                </a:solidFill>
              </a:rPr>
              <a:t>حديثة</a:t>
            </a:r>
            <a:r>
              <a:rPr sz="956" b="0">
                <a:solidFill>
                  <a:srgbClr val="FFFFFF"/>
                </a:solidFill>
              </a:rPr>
              <a:t> بالمناهج الدراسية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05592" y="6677025"/>
            <a:ext cx="2981250" cy="476249"/>
          </a:xfrm>
          <a:prstGeom prst="roundRect">
            <a:avLst>
              <a:gd name="adj" fmla="val 40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10953476" y="6833907"/>
            <a:ext cx="190495" cy="16248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715257" y="6772275"/>
            <a:ext cx="1142971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توافر مرن للجلسات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05592" y="7248525"/>
            <a:ext cx="2981250" cy="476249"/>
          </a:xfrm>
          <a:prstGeom prst="roundRect">
            <a:avLst>
              <a:gd name="adj" fmla="val 40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10953476" y="7411010"/>
            <a:ext cx="190495" cy="15127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962900" y="7343775"/>
            <a:ext cx="895327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أسعار معقولة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62340" y="2257425"/>
            <a:ext cx="3457488" cy="5705475"/>
          </a:xfrm>
          <a:prstGeom prst="roundRect">
            <a:avLst>
              <a:gd name="adj" fmla="val 11019"/>
            </a:avLst>
          </a:prstGeom>
          <a:solidFill>
            <a:srgbClr val="FFFFFF">
              <a:alpha val="15000"/>
            </a:srgbClr>
          </a:solidFill>
          <a:ln w="41275">
            <a:solidFill>
              <a:srgbClr val="9FA8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jp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4362340" y="2305049"/>
            <a:ext cx="3457488" cy="228600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4505212" y="2447924"/>
            <a:ext cx="1152496" cy="380999"/>
          </a:xfrm>
          <a:prstGeom prst="roundRect">
            <a:avLst>
              <a:gd name="adj" fmla="val 10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5391015" y="2575832"/>
            <a:ext cx="152396" cy="12518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619509" y="2495550"/>
            <a:ext cx="723881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A3A8A"/>
                </a:solidFill>
              </a:rPr>
              <a:t>موجه خريج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00459" y="4829175"/>
            <a:ext cx="2981250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FFFFFF"/>
                </a:solidFill>
              </a:rPr>
              <a:t> </a:t>
            </a:r>
            <a:r>
              <a:rPr sz="1435" b="1">
                <a:solidFill>
                  <a:srgbClr val="FFFFFF"/>
                </a:solidFill>
              </a:rPr>
              <a:t>موجه خريج</a:t>
            </a:r>
            <a:r>
              <a:rPr sz="1435" b="1">
                <a:solidFill>
                  <a:srgbClr val="FFFFFF"/>
                </a:solidFill>
              </a:rPr>
              <a:t> 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7362640" y="4959667"/>
            <a:ext cx="228594" cy="17716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600459" y="5400675"/>
            <a:ext cx="2981250" cy="5143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1300"/>
              </a:spcAft>
            </a:pPr>
            <a:r>
              <a:rPr sz="1076" b="0">
                <a:solidFill>
                  <a:srgbClr val="FFFFFF"/>
                </a:solidFill>
              </a:rPr>
              <a:t>خريج متخصص يشارك خبرته الواقعية في سوق العمل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00459" y="6105525"/>
            <a:ext cx="2981250" cy="476249"/>
          </a:xfrm>
          <a:prstGeom prst="roundRect">
            <a:avLst>
              <a:gd name="adj" fmla="val 40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7257868" y="6290422"/>
            <a:ext cx="190495" cy="10645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533886" y="6200775"/>
            <a:ext cx="1628734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رؤية </a:t>
            </a:r>
            <a:r>
              <a:rPr sz="956" b="1">
                <a:solidFill>
                  <a:srgbClr val="FBBF24"/>
                </a:solidFill>
              </a:rPr>
              <a:t>واقعية</a:t>
            </a:r>
            <a:r>
              <a:rPr sz="956" b="0">
                <a:solidFill>
                  <a:srgbClr val="FFFFFF"/>
                </a:solidFill>
              </a:rPr>
              <a:t> لسوق العمل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600459" y="6677025"/>
            <a:ext cx="2981250" cy="476249"/>
          </a:xfrm>
          <a:prstGeom prst="roundRect">
            <a:avLst>
              <a:gd name="adj" fmla="val 40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7257868" y="6833907"/>
            <a:ext cx="190495" cy="16248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829154" y="6772275"/>
            <a:ext cx="1333466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نصائح عملية للتوظيف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600459" y="7248525"/>
            <a:ext cx="2981250" cy="476249"/>
          </a:xfrm>
          <a:prstGeom prst="roundRect">
            <a:avLst>
              <a:gd name="adj" fmla="val 40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7257868" y="7433422"/>
            <a:ext cx="190495" cy="106455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905352" y="7343775"/>
            <a:ext cx="1257268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شبكة علاقات مهنية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6733" y="2257425"/>
            <a:ext cx="3457488" cy="5705475"/>
          </a:xfrm>
          <a:prstGeom prst="roundRect">
            <a:avLst>
              <a:gd name="adj" fmla="val 11019"/>
            </a:avLst>
          </a:prstGeom>
          <a:solidFill>
            <a:srgbClr val="FFFFFF">
              <a:alpha val="15000"/>
            </a:srgbClr>
          </a:solidFill>
          <a:ln w="41275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jp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666733" y="2305049"/>
            <a:ext cx="3457488" cy="2286000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809604" y="2447924"/>
            <a:ext cx="1304892" cy="380999"/>
          </a:xfrm>
          <a:prstGeom prst="roundRect">
            <a:avLst>
              <a:gd name="adj" fmla="val 10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1847803" y="2570389"/>
            <a:ext cx="152396" cy="136071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23901" y="2495550"/>
            <a:ext cx="876278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A3A8A"/>
                </a:solidFill>
              </a:rPr>
              <a:t>موجه محترف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4852" y="4829175"/>
            <a:ext cx="2981250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FFFFFF"/>
                </a:solidFill>
              </a:rPr>
              <a:t> </a:t>
            </a:r>
            <a:r>
              <a:rPr sz="1435" b="1">
                <a:solidFill>
                  <a:srgbClr val="FFFFFF"/>
                </a:solidFill>
              </a:rPr>
              <a:t>موجه محترف</a:t>
            </a:r>
            <a:r>
              <a:rPr sz="1435" b="1">
                <a:solidFill>
                  <a:srgbClr val="FFFFFF"/>
                </a:solidFill>
              </a:rPr>
              <a:t> 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6">
            <a:alphaModFix amt="100000"/>
          </a:blip>
          <a:stretch>
            <a:fillRect/>
          </a:stretch>
        </p:blipFill>
        <p:spPr>
          <a:xfrm>
            <a:off x="3657508" y="4959667"/>
            <a:ext cx="228594" cy="177164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904852" y="5400675"/>
            <a:ext cx="2981250" cy="5143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1300"/>
              </a:spcAft>
            </a:pPr>
            <a:r>
              <a:rPr sz="1076" b="0">
                <a:solidFill>
                  <a:srgbClr val="FFFFFF"/>
                </a:solidFill>
              </a:rPr>
              <a:t>خبير معتمد يقدم إرشاداً متخصصاً ودعماً نفسياً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04852" y="6105525"/>
            <a:ext cx="2981250" cy="476249"/>
          </a:xfrm>
          <a:prstGeom prst="roundRect">
            <a:avLst>
              <a:gd name="adj" fmla="val 40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7">
            <a:alphaModFix amt="100000"/>
          </a:blip>
          <a:stretch>
            <a:fillRect/>
          </a:stretch>
        </p:blipFill>
        <p:spPr>
          <a:xfrm>
            <a:off x="3552736" y="6254002"/>
            <a:ext cx="190495" cy="179294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666833" y="6200775"/>
            <a:ext cx="1790655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شهادات </a:t>
            </a:r>
            <a:r>
              <a:rPr sz="956" b="1">
                <a:solidFill>
                  <a:srgbClr val="FBBF24"/>
                </a:solidFill>
              </a:rPr>
              <a:t>معتمدة</a:t>
            </a:r>
            <a:r>
              <a:rPr sz="956" b="0">
                <a:solidFill>
                  <a:srgbClr val="FFFFFF"/>
                </a:solidFill>
              </a:rPr>
              <a:t> في التوجيه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04852" y="6677025"/>
            <a:ext cx="2981250" cy="476249"/>
          </a:xfrm>
          <a:prstGeom prst="roundRect">
            <a:avLst>
              <a:gd name="adj" fmla="val 40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8">
            <a:alphaModFix amt="100000"/>
          </a:blip>
          <a:stretch>
            <a:fillRect/>
          </a:stretch>
        </p:blipFill>
        <p:spPr>
          <a:xfrm>
            <a:off x="3552736" y="6838109"/>
            <a:ext cx="190495" cy="15408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2190695" y="6772275"/>
            <a:ext cx="1276318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دعم نفسي متخصص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04852" y="7248525"/>
            <a:ext cx="2981250" cy="476249"/>
          </a:xfrm>
          <a:prstGeom prst="roundRect">
            <a:avLst>
              <a:gd name="adj" fmla="val 4000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9">
            <a:alphaModFix amt="100000"/>
          </a:blip>
          <a:stretch>
            <a:fillRect/>
          </a:stretch>
        </p:blipFill>
        <p:spPr>
          <a:xfrm>
            <a:off x="3552736" y="7404006"/>
            <a:ext cx="190495" cy="165286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2038299" y="7343775"/>
            <a:ext cx="1419189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تقييمات شخصية مهنية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3A8A"/>
            </a:gs>
            <a:gs pos="100000">
              <a:srgbClr val="2563EB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38719" y="1152524"/>
            <a:ext cx="5286242" cy="714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950"/>
              </a:spcAft>
            </a:pPr>
            <a:r>
              <a:rPr sz="2392" b="1">
                <a:solidFill>
                  <a:srgbClr val="FFFFFF"/>
                </a:solidFill>
              </a:rPr>
              <a:t>التأثير الاجتماعي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38719" y="2152650"/>
            <a:ext cx="5286242" cy="1409699"/>
          </a:xfrm>
          <a:prstGeom prst="roundRect">
            <a:avLst>
              <a:gd name="adj" fmla="val 27027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572485" y="2495550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0705832" y="2664069"/>
            <a:ext cx="304792" cy="23446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39039" y="2609850"/>
            <a:ext cx="103819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FBBF24"/>
                </a:solidFill>
              </a:rPr>
              <a:t>الإمكانات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29474" y="2590799"/>
            <a:ext cx="266693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38919" y="2495550"/>
            <a:ext cx="552436" cy="57150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362740" y="2637692"/>
            <a:ext cx="304792" cy="28721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24461" y="2438400"/>
            <a:ext cx="1619209" cy="695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554" b="1">
                <a:solidFill>
                  <a:srgbClr val="FBBF24"/>
                </a:solidFill>
              </a:rPr>
              <a:t>النجاح الحقيقي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8719" y="3933824"/>
            <a:ext cx="5286242" cy="1771650"/>
          </a:xfrm>
          <a:prstGeom prst="roundRect">
            <a:avLst>
              <a:gd name="adj" fmla="val 21505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24461" y="4219575"/>
            <a:ext cx="4714757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FFFFFF"/>
                </a:solidFill>
              </a:rPr>
              <a:t> </a:t>
            </a:r>
            <a:r>
              <a:rPr sz="1435" b="1">
                <a:solidFill>
                  <a:srgbClr val="FFFFFF"/>
                </a:solidFill>
              </a:rPr>
              <a:t>رؤيتنا</a:t>
            </a:r>
            <a:r>
              <a:rPr sz="1435" b="1">
                <a:solidFill>
                  <a:srgbClr val="FFFFFF"/>
                </a:solidFill>
              </a:rPr>
              <a:t> 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972525" y="4348783"/>
            <a:ext cx="266693" cy="1797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524461" y="4791075"/>
            <a:ext cx="4714757" cy="6286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FFFFFF"/>
                </a:solidFill>
              </a:rPr>
              <a:t> بناء مجتمع </a:t>
            </a:r>
            <a:r>
              <a:rPr sz="1315" b="1">
                <a:solidFill>
                  <a:srgbClr val="FBBF24"/>
                </a:solidFill>
              </a:rPr>
              <a:t>سعيد ومنتج</a:t>
            </a:r>
            <a:r>
              <a:rPr sz="1315" b="0">
                <a:solidFill>
                  <a:srgbClr val="FFFFFF"/>
                </a:solidFill>
              </a:rPr>
              <a:t>، خالٍ من الفقر الناتج عن عدم التوافق </a:t>
            </a:r>
          </a:p>
        </p:txBody>
      </p:sp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162020" y="1285875"/>
            <a:ext cx="4286142" cy="428625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3628934" y="1476375"/>
            <a:ext cx="1628734" cy="466724"/>
          </a:xfrm>
          <a:prstGeom prst="roundRect">
            <a:avLst>
              <a:gd name="adj" fmla="val 81632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4914777" y="1624852"/>
            <a:ext cx="190495" cy="17929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781330" y="1552574"/>
            <a:ext cx="1057248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A3A8A"/>
                </a:solidFill>
              </a:rPr>
              <a:t>تحويل حقيقي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62020" y="1285875"/>
            <a:ext cx="4286142" cy="4286250"/>
          </a:xfrm>
          <a:prstGeom prst="rect">
            <a:avLst/>
          </a:prstGeom>
          <a:gradFill rotWithShape="1">
            <a:gsLst>
              <a:gs pos="0">
                <a:srgbClr val="1A3A8A">
                  <a:alpha val="70000"/>
                </a:srgbClr>
              </a:gs>
              <a:gs pos="100000">
                <a:srgbClr val="2563EB">
                  <a:alpha val="50000"/>
                </a:srgbClr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14717" y="2143125"/>
            <a:ext cx="857228" cy="590549"/>
          </a:xfrm>
          <a:prstGeom prst="roundRect">
            <a:avLst>
              <a:gd name="adj" fmla="val 96774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14717" y="2143125"/>
            <a:ext cx="857228" cy="5905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315" b="1">
                <a:solidFill>
                  <a:srgbClr val="1A3A8A"/>
                </a:solidFill>
              </a:rPr>
              <a:t>+85%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47763" y="2876549"/>
            <a:ext cx="3714657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زيادة فرص الحصول على وظيفة مناسبة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291" y="3190874"/>
            <a:ext cx="828654" cy="590549"/>
          </a:xfrm>
          <a:prstGeom prst="roundRect">
            <a:avLst>
              <a:gd name="adj" fmla="val 96774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291" y="3190874"/>
            <a:ext cx="828654" cy="5905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315" b="1">
                <a:solidFill>
                  <a:srgbClr val="1A3A8A"/>
                </a:solidFill>
              </a:rPr>
              <a:t>-60%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47763" y="3924299"/>
            <a:ext cx="3714657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انخفاض معدلات التسرب الجامعي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14717" y="4238624"/>
            <a:ext cx="857228" cy="590549"/>
          </a:xfrm>
          <a:prstGeom prst="roundRect">
            <a:avLst>
              <a:gd name="adj" fmla="val 96774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14717" y="4238624"/>
            <a:ext cx="857228" cy="5905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315" b="1">
                <a:solidFill>
                  <a:srgbClr val="1A3A8A"/>
                </a:solidFill>
              </a:rPr>
              <a:t>+70%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7763" y="4972050"/>
            <a:ext cx="3714657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تحسين الرضا الوظيفي والإنتاجية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3A8A"/>
            </a:gs>
            <a:gs pos="100000">
              <a:srgbClr val="2563EB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38719" y="1638299"/>
            <a:ext cx="5286242" cy="714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950"/>
              </a:spcAft>
            </a:pPr>
            <a:r>
              <a:rPr sz="2392" b="1">
                <a:solidFill>
                  <a:srgbClr val="FFFFFF"/>
                </a:solidFill>
              </a:rPr>
              <a:t>الفئة المستهدفة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38719" y="2638425"/>
            <a:ext cx="5286242" cy="1171575"/>
          </a:xfrm>
          <a:prstGeom prst="roundRect">
            <a:avLst>
              <a:gd name="adj" fmla="val 19512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762980" y="2933699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0896327" y="3102219"/>
            <a:ext cx="304792" cy="23446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29214" y="2828925"/>
            <a:ext cx="4143271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435" b="1">
                <a:solidFill>
                  <a:srgbClr val="FFFFFF"/>
                </a:solidFill>
              </a:rPr>
              <a:t>الطلاب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29214" y="3305174"/>
            <a:ext cx="4143271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الباحثون عن </a:t>
            </a:r>
            <a:r>
              <a:rPr sz="1076" b="1">
                <a:solidFill>
                  <a:srgbClr val="FBBF24"/>
                </a:solidFill>
              </a:rPr>
              <a:t>التوجيه الصحيح</a:t>
            </a:r>
            <a:r>
              <a:rPr sz="1076" b="0">
                <a:solidFill>
                  <a:srgbClr val="FFFFFF"/>
                </a:solidFill>
              </a:rPr>
              <a:t> والمسار المناسب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8719" y="4048124"/>
            <a:ext cx="5286242" cy="1171575"/>
          </a:xfrm>
          <a:prstGeom prst="roundRect">
            <a:avLst>
              <a:gd name="adj" fmla="val 19512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762980" y="4343400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896327" y="4500196"/>
            <a:ext cx="304792" cy="25790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29214" y="4238624"/>
            <a:ext cx="4143271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435" b="1">
                <a:solidFill>
                  <a:srgbClr val="FFFFFF"/>
                </a:solidFill>
              </a:rPr>
              <a:t>الأولياء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9214" y="4714875"/>
            <a:ext cx="4143271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يرغبون في تقييم اختيارات أبنائهم وضمان مستقبلهم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62020" y="1285875"/>
            <a:ext cx="4286142" cy="42862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Image failed to load:</a:t>
            </a:r>
          </a:p>
          <a:p>
            <a:r>
              <a:t>https://sfile.chatglm.cn/images-ppt/aac1fde338d0.j...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52736" y="1476375"/>
            <a:ext cx="1714457" cy="466724"/>
          </a:xfrm>
          <a:prstGeom prst="roundRect">
            <a:avLst>
              <a:gd name="adj" fmla="val 81632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914777" y="1661272"/>
            <a:ext cx="190495" cy="10645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705132" y="1552574"/>
            <a:ext cx="1142971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A3A8A"/>
                </a:solidFill>
              </a:rPr>
              <a:t>شريك في القرار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62020" y="1285875"/>
            <a:ext cx="4286142" cy="4286250"/>
          </a:xfrm>
          <a:prstGeom prst="rect">
            <a:avLst/>
          </a:prstGeom>
          <a:gradFill rotWithShape="1">
            <a:gsLst>
              <a:gs pos="0">
                <a:srgbClr val="1A3A8A">
                  <a:alpha val="70000"/>
                </a:srgbClr>
              </a:gs>
              <a:gs pos="100000">
                <a:srgbClr val="2563EB">
                  <a:alpha val="50000"/>
                </a:srgbClr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429014" y="2562224"/>
            <a:ext cx="742931" cy="590549"/>
          </a:xfrm>
          <a:prstGeom prst="roundRect">
            <a:avLst>
              <a:gd name="adj" fmla="val 96774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29014" y="2562224"/>
            <a:ext cx="742931" cy="5905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315" b="1">
                <a:solidFill>
                  <a:srgbClr val="1A3A8A"/>
                </a:solidFill>
              </a:rPr>
              <a:t>85%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47763" y="3295650"/>
            <a:ext cx="3714657" cy="6286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من الطلاب يحتاجون إلى مساعدة في اتخاذ قراراتهم التعليمية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29014" y="3924299"/>
            <a:ext cx="742931" cy="590549"/>
          </a:xfrm>
          <a:prstGeom prst="roundRect">
            <a:avLst>
              <a:gd name="adj" fmla="val 96774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29014" y="3924299"/>
            <a:ext cx="742931" cy="5905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315" b="1">
                <a:solidFill>
                  <a:srgbClr val="1A3A8A"/>
                </a:solidFill>
              </a:rPr>
              <a:t>75%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47763" y="4657725"/>
            <a:ext cx="3714657" cy="6286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من الأولياء يشاركون بنشاط في قرارات أبنائهم التعليمية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3A8A"/>
            </a:gs>
            <a:gs pos="100000">
              <a:srgbClr val="2563EB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476249"/>
            <a:ext cx="10858228" cy="714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950"/>
              </a:spcAft>
            </a:pPr>
            <a:r>
              <a:rPr sz="2392" b="1">
                <a:solidFill>
                  <a:srgbClr val="FFFFFF"/>
                </a:solidFill>
              </a:rPr>
              <a:t>خارطة طريق التنفيذ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191595" y="1476375"/>
            <a:ext cx="190495" cy="190499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29214" y="1562100"/>
            <a:ext cx="4524261" cy="28575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00599" y="1476375"/>
            <a:ext cx="190495" cy="190499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38219" y="1562100"/>
            <a:ext cx="4524261" cy="28575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9604" y="1476375"/>
            <a:ext cx="190495" cy="190499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67473" y="2047874"/>
            <a:ext cx="3457488" cy="6438899"/>
          </a:xfrm>
          <a:prstGeom prst="roundRect">
            <a:avLst>
              <a:gd name="adj" fmla="val 11019"/>
            </a:avLst>
          </a:prstGeom>
          <a:solidFill>
            <a:srgbClr val="FFFFFF">
              <a:alpha val="15000"/>
            </a:srgbClr>
          </a:solidFill>
          <a:ln w="41275">
            <a:solidFill>
              <a:srgbClr val="798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7773" y="2238375"/>
            <a:ext cx="314317" cy="10667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588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72485" y="2381250"/>
            <a:ext cx="666733" cy="66675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0734406" y="2622987"/>
            <a:ext cx="342891" cy="18327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353216" y="3286125"/>
            <a:ext cx="2886002" cy="4952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FFFFFF"/>
                </a:solidFill>
              </a:rPr>
              <a:t>تطوير التطبيق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3216" y="3924299"/>
            <a:ext cx="2886002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196" b="0">
                <a:solidFill>
                  <a:srgbClr val="FBBF24"/>
                </a:solidFill>
              </a:rPr>
              <a:t>البحث عن النخبة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3216" y="4467224"/>
            <a:ext cx="2886002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1625"/>
              </a:spcAft>
            </a:pPr>
            <a:r>
              <a:rPr sz="1076" b="0">
                <a:solidFill>
                  <a:srgbClr val="FFFFFF"/>
                </a:solidFill>
              </a:rPr>
              <a:t>بناء منصة قوية وتجميع أفضل الموجهين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53216" y="5572125"/>
            <a:ext cx="2886002" cy="542925"/>
          </a:xfrm>
          <a:prstGeom prst="roundRect">
            <a:avLst>
              <a:gd name="adj" fmla="val 3508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905852" y="5758702"/>
            <a:ext cx="190495" cy="17929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210444" y="5686425"/>
            <a:ext cx="1600159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تطوير واجهة المستخدم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53216" y="6229350"/>
            <a:ext cx="2886002" cy="542925"/>
          </a:xfrm>
          <a:prstGeom prst="roundRect">
            <a:avLst>
              <a:gd name="adj" fmla="val 3508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905852" y="6442822"/>
            <a:ext cx="190495" cy="10645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143771" y="6343650"/>
            <a:ext cx="1666833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نظام الفيديو والمحادثات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53216" y="6886575"/>
            <a:ext cx="2886002" cy="542925"/>
          </a:xfrm>
          <a:prstGeom prst="roundRect">
            <a:avLst>
              <a:gd name="adj" fmla="val 3508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0905852" y="7101167"/>
            <a:ext cx="190495" cy="12326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219969" y="7000875"/>
            <a:ext cx="1590635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اختيار </a:t>
            </a:r>
            <a:r>
              <a:rPr sz="1076" b="1">
                <a:solidFill>
                  <a:srgbClr val="FBBF24"/>
                </a:solidFill>
              </a:rPr>
              <a:t>الموجهين النخبة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53216" y="7543800"/>
            <a:ext cx="2886002" cy="542925"/>
          </a:xfrm>
          <a:prstGeom prst="roundRect">
            <a:avLst>
              <a:gd name="adj" fmla="val 3508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10905852" y="7720852"/>
            <a:ext cx="190495" cy="17929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029474" y="7658100"/>
            <a:ext cx="1781130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حماية البيانات والخصوصية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62340" y="2047874"/>
            <a:ext cx="3457488" cy="6438899"/>
          </a:xfrm>
          <a:prstGeom prst="roundRect">
            <a:avLst>
              <a:gd name="adj" fmla="val 11019"/>
            </a:avLst>
          </a:prstGeom>
          <a:solidFill>
            <a:srgbClr val="FFFFFF">
              <a:alpha val="15000"/>
            </a:srgbClr>
          </a:solidFill>
          <a:ln w="41275">
            <a:solidFill>
              <a:srgbClr val="9FA8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62640" y="2238375"/>
            <a:ext cx="314317" cy="10667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588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76878" y="2381250"/>
            <a:ext cx="666733" cy="66675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7038799" y="2568301"/>
            <a:ext cx="342891" cy="292647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648083" y="3286125"/>
            <a:ext cx="2886002" cy="4952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FFFFFF"/>
                </a:solidFill>
              </a:rPr>
              <a:t>الدمج والاختبار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48083" y="3924299"/>
            <a:ext cx="2886002" cy="7048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196" b="0">
                <a:solidFill>
                  <a:srgbClr val="FBBF24"/>
                </a:solidFill>
              </a:rPr>
              <a:t>دمج الموجهين واختبار جودة مكالمات الفيديو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48083" y="4819650"/>
            <a:ext cx="2886002" cy="5143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1625"/>
              </a:spcAft>
            </a:pPr>
            <a:r>
              <a:rPr sz="1076" b="0">
                <a:solidFill>
                  <a:srgbClr val="FFFFFF"/>
                </a:solidFill>
              </a:rPr>
              <a:t>ضمان تجربة مستخدم سلسة وموثوقية عالية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48083" y="5572125"/>
            <a:ext cx="2886002" cy="542925"/>
          </a:xfrm>
          <a:prstGeom prst="roundRect">
            <a:avLst>
              <a:gd name="adj" fmla="val 3508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7210244" y="5778313"/>
            <a:ext cx="190495" cy="140073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457688" y="5686425"/>
            <a:ext cx="1657308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إعداد حسابات الموجهين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648083" y="6229350"/>
            <a:ext cx="2886002" cy="542925"/>
          </a:xfrm>
          <a:prstGeom prst="roundRect">
            <a:avLst>
              <a:gd name="adj" fmla="val 3508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7210244" y="6406402"/>
            <a:ext cx="190495" cy="17929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152896" y="6343650"/>
            <a:ext cx="1962100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التحقق من صحة المعلومات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648083" y="6886575"/>
            <a:ext cx="2886002" cy="542925"/>
          </a:xfrm>
          <a:prstGeom prst="roundRect">
            <a:avLst>
              <a:gd name="adj" fmla="val 3508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7210244" y="7094163"/>
            <a:ext cx="190495" cy="137272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5743431" y="7000875"/>
            <a:ext cx="1371565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اختبار </a:t>
            </a:r>
            <a:r>
              <a:rPr sz="1076" b="1">
                <a:solidFill>
                  <a:srgbClr val="FBBF24"/>
                </a:solidFill>
              </a:rPr>
              <a:t>جودة الفيديو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648083" y="7543800"/>
            <a:ext cx="2886002" cy="542925"/>
          </a:xfrm>
          <a:prstGeom prst="roundRect">
            <a:avLst>
              <a:gd name="adj" fmla="val 3508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7210244" y="7729257"/>
            <a:ext cx="190495" cy="162485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5200519" y="7658100"/>
            <a:ext cx="1914477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جمع ملاحظات المستخدمين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66733" y="2047874"/>
            <a:ext cx="3457488" cy="6438899"/>
          </a:xfrm>
          <a:prstGeom prst="roundRect">
            <a:avLst>
              <a:gd name="adj" fmla="val 11019"/>
            </a:avLst>
          </a:prstGeom>
          <a:solidFill>
            <a:srgbClr val="FFFFFF">
              <a:alpha val="15000"/>
            </a:srgbClr>
          </a:solidFill>
          <a:ln w="41275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67033" y="2238375"/>
            <a:ext cx="314317" cy="10667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588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171745" y="2381250"/>
            <a:ext cx="666733" cy="66675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3333666" y="2571257"/>
            <a:ext cx="342891" cy="286735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52476" y="3286125"/>
            <a:ext cx="2886002" cy="4952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FFFFFF"/>
                </a:solidFill>
              </a:rPr>
              <a:t>الإطلاق والتسويق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2476" y="3924299"/>
            <a:ext cx="2886002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196" b="0">
                <a:solidFill>
                  <a:srgbClr val="FBBF24"/>
                </a:solidFill>
              </a:rPr>
              <a:t>الإطلاق الرسمي والحملات التسويقية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2476" y="4467224"/>
            <a:ext cx="2886002" cy="5143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1625"/>
              </a:spcAft>
            </a:pPr>
            <a:r>
              <a:rPr sz="1076" b="0">
                <a:solidFill>
                  <a:srgbClr val="FFFFFF"/>
                </a:solidFill>
              </a:rPr>
              <a:t>الوصول إلى أكبر عدد من الطلاب وأولياء الأمور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52476" y="5572125"/>
            <a:ext cx="2886002" cy="542925"/>
          </a:xfrm>
          <a:prstGeom prst="roundRect">
            <a:avLst>
              <a:gd name="adj" fmla="val 3508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3505112" y="5778313"/>
            <a:ext cx="190495" cy="140073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704932" y="5686425"/>
            <a:ext cx="1714457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حملات إعلانية مستهدفة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52476" y="6229350"/>
            <a:ext cx="2886002" cy="542925"/>
          </a:xfrm>
          <a:prstGeom prst="roundRect">
            <a:avLst>
              <a:gd name="adj" fmla="val 3508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3505112" y="6420410"/>
            <a:ext cx="190495" cy="151279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990675" y="6343650"/>
            <a:ext cx="1419189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شراكات مع المدارس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52476" y="6886575"/>
            <a:ext cx="2886002" cy="542925"/>
          </a:xfrm>
          <a:prstGeom prst="roundRect">
            <a:avLst>
              <a:gd name="adj" fmla="val 3508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3505112" y="7109572"/>
            <a:ext cx="190495" cy="106455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1924001" y="7000875"/>
            <a:ext cx="1485862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تحليل </a:t>
            </a:r>
            <a:r>
              <a:rPr sz="1076" b="1">
                <a:solidFill>
                  <a:srgbClr val="FBBF24"/>
                </a:solidFill>
              </a:rPr>
              <a:t>مؤشرات الأداء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52476" y="7543800"/>
            <a:ext cx="2886002" cy="542925"/>
          </a:xfrm>
          <a:prstGeom prst="roundRect">
            <a:avLst>
              <a:gd name="adj" fmla="val 3508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16">
            <a:alphaModFix amt="100000"/>
          </a:blip>
          <a:stretch>
            <a:fillRect/>
          </a:stretch>
        </p:blipFill>
        <p:spPr>
          <a:xfrm>
            <a:off x="3505112" y="7734860"/>
            <a:ext cx="190495" cy="151279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1600159" y="7658100"/>
            <a:ext cx="1809704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دعم فني على مدار الساعة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3A8A"/>
            </a:gs>
            <a:gs pos="100000">
              <a:srgbClr val="2563EB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38719" y="485775"/>
            <a:ext cx="5286242" cy="714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950"/>
              </a:spcAft>
            </a:pPr>
            <a:r>
              <a:rPr sz="2392" b="1">
                <a:solidFill>
                  <a:srgbClr val="FFFFFF"/>
                </a:solidFill>
              </a:rPr>
              <a:t>الموارد المطلوبة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38719" y="1485900"/>
            <a:ext cx="5286242" cy="2324100"/>
          </a:xfrm>
          <a:prstGeom prst="roundRect">
            <a:avLst>
              <a:gd name="adj" fmla="val 9836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762980" y="1676400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0896327" y="1880088"/>
            <a:ext cx="304792" cy="16412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762780" y="1752599"/>
            <a:ext cx="1809704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</a:rPr>
              <a:t>رأس المال البشري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53276" y="2390774"/>
            <a:ext cx="2381190" cy="542925"/>
          </a:xfrm>
          <a:prstGeom prst="roundRect">
            <a:avLst>
              <a:gd name="adj" fmla="val 3508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1001099" y="2613772"/>
            <a:ext cx="190495" cy="10645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734306" y="2505074"/>
            <a:ext cx="1171545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مطورون (التقنية)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29214" y="2390774"/>
            <a:ext cx="2381190" cy="542925"/>
          </a:xfrm>
          <a:prstGeom prst="roundRect">
            <a:avLst>
              <a:gd name="adj" fmla="val 3508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477038" y="2613772"/>
            <a:ext cx="190495" cy="10645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219769" y="2505074"/>
            <a:ext cx="1162020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مسوقون (النمو)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29214" y="3076574"/>
            <a:ext cx="4905252" cy="542925"/>
          </a:xfrm>
          <a:prstGeom prst="roundRect">
            <a:avLst>
              <a:gd name="adj" fmla="val 3508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1001099" y="3277160"/>
            <a:ext cx="190495" cy="15127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858028" y="3190874"/>
            <a:ext cx="2047823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موجهون محترفون (المحتوى)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8719" y="4048124"/>
            <a:ext cx="5286242" cy="2324100"/>
          </a:xfrm>
          <a:prstGeom prst="roundRect">
            <a:avLst>
              <a:gd name="adj" fmla="val 9836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762980" y="4238624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10896327" y="4415936"/>
            <a:ext cx="304792" cy="21687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867653" y="4305300"/>
            <a:ext cx="704832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</a:rPr>
              <a:t>التقنية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3276" y="4952999"/>
            <a:ext cx="2381190" cy="542925"/>
          </a:xfrm>
          <a:prstGeom prst="roundRect">
            <a:avLst>
              <a:gd name="adj" fmla="val 3508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11001099" y="5149663"/>
            <a:ext cx="190495" cy="140073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543811" y="5067299"/>
            <a:ext cx="1362040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خوادم قابلة للتوسع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29214" y="4952999"/>
            <a:ext cx="2381190" cy="542925"/>
          </a:xfrm>
          <a:prstGeom prst="roundRect">
            <a:avLst>
              <a:gd name="adj" fmla="val 3508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477038" y="5149663"/>
            <a:ext cx="190495" cy="140073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219769" y="5067299"/>
            <a:ext cx="1162020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بنية تحتية سحابية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29214" y="5638799"/>
            <a:ext cx="4905252" cy="542925"/>
          </a:xfrm>
          <a:prstGeom prst="roundRect">
            <a:avLst>
              <a:gd name="adj" fmla="val 3508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11001099" y="5815852"/>
            <a:ext cx="190495" cy="17929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981950" y="5753099"/>
            <a:ext cx="923901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حماية البيانات</a:t>
            </a:r>
          </a:p>
        </p:txBody>
      </p:sp>
      <p:pic>
        <p:nvPicPr>
          <p:cNvPr id="29" name="Picture 28" descr="image.jp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1162020" y="1285875"/>
            <a:ext cx="4286142" cy="4286250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3647983" y="1476375"/>
            <a:ext cx="1619209" cy="466724"/>
          </a:xfrm>
          <a:prstGeom prst="roundRect">
            <a:avLst>
              <a:gd name="adj" fmla="val 81632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4914777" y="1652867"/>
            <a:ext cx="190495" cy="12326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3800379" y="1552574"/>
            <a:ext cx="1047723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A3A8A"/>
                </a:solidFill>
              </a:rPr>
              <a:t>فريق متكامل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62020" y="1285875"/>
            <a:ext cx="4286142" cy="4286250"/>
          </a:xfrm>
          <a:prstGeom prst="rect">
            <a:avLst/>
          </a:prstGeom>
          <a:gradFill rotWithShape="1">
            <a:gsLst>
              <a:gs pos="0">
                <a:srgbClr val="1A3A8A">
                  <a:alpha val="70000"/>
                </a:srgbClr>
              </a:gs>
              <a:gs pos="100000">
                <a:srgbClr val="2563EB">
                  <a:alpha val="50000"/>
                </a:srgbClr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152796" y="3190874"/>
            <a:ext cx="1019149" cy="590549"/>
          </a:xfrm>
          <a:prstGeom prst="roundRect">
            <a:avLst>
              <a:gd name="adj" fmla="val 96774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52796" y="3190874"/>
            <a:ext cx="1019149" cy="5905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315" b="1">
                <a:solidFill>
                  <a:srgbClr val="1A3A8A"/>
                </a:solidFill>
              </a:rPr>
              <a:t>3 أشهر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47763" y="3924299"/>
            <a:ext cx="3714657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للحصول على أول نسخة من التطبيق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52796" y="4238624"/>
            <a:ext cx="1019149" cy="590549"/>
          </a:xfrm>
          <a:prstGeom prst="roundRect">
            <a:avLst>
              <a:gd name="adj" fmla="val 96774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52796" y="4238624"/>
            <a:ext cx="1019149" cy="5905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315" b="1">
                <a:solidFill>
                  <a:srgbClr val="1A3A8A"/>
                </a:solidFill>
              </a:rPr>
              <a:t>6 أشهر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47763" y="4972050"/>
            <a:ext cx="3714657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للإطلاق رسمي في الأسواق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3A8A"/>
            </a:gs>
            <a:gs pos="100000">
              <a:srgbClr val="2563EB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476249"/>
            <a:ext cx="10858228" cy="714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950"/>
              </a:spcAft>
            </a:pPr>
            <a:r>
              <a:rPr sz="2392" b="1">
                <a:solidFill>
                  <a:srgbClr val="FFFFFF"/>
                </a:solidFill>
              </a:rPr>
              <a:t>نموذج العمل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6733" y="1476375"/>
            <a:ext cx="10858228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0"/>
              </a:spcAft>
            </a:pPr>
            <a:r>
              <a:rPr sz="1315" b="0">
                <a:solidFill>
                  <a:srgbClr val="FFFFFF"/>
                </a:solidFill>
              </a:rPr>
              <a:t>مصادر الدخل المتنوعة لضمان استدامة النمو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38719" y="2257425"/>
            <a:ext cx="5286242" cy="3295650"/>
          </a:xfrm>
          <a:prstGeom prst="roundRect">
            <a:avLst>
              <a:gd name="adj" fmla="val 11560"/>
            </a:avLst>
          </a:prstGeom>
          <a:solidFill>
            <a:srgbClr val="FFFFFF">
              <a:alpha val="15000"/>
            </a:srgbClr>
          </a:solidFill>
          <a:ln w="41275">
            <a:solidFill>
              <a:srgbClr val="7986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81590" y="2447924"/>
            <a:ext cx="904852" cy="380999"/>
          </a:xfrm>
          <a:prstGeom prst="roundRect">
            <a:avLst>
              <a:gd name="adj" fmla="val 100000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81590" y="2447924"/>
            <a:ext cx="904852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A3A8A"/>
                </a:solidFill>
              </a:rPr>
              <a:t>أهم مصدر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7773" y="2447924"/>
            <a:ext cx="314317" cy="10667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588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72485" y="2590799"/>
            <a:ext cx="666733" cy="66675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0734406" y="2832537"/>
            <a:ext cx="342891" cy="18327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24461" y="3495675"/>
            <a:ext cx="4714757" cy="4952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FFFFFF"/>
                </a:solidFill>
              </a:rPr>
              <a:t>عمولة مكالمات الفيديو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4461" y="4133849"/>
            <a:ext cx="4714757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1300"/>
              </a:spcAft>
            </a:pPr>
            <a:r>
              <a:rPr sz="1196" b="0">
                <a:solidFill>
                  <a:srgbClr val="FFFFFF"/>
                </a:solidFill>
              </a:rPr>
              <a:t>نسبة من كل استشارة فيديو بين الطالب والموجه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24461" y="4610099"/>
            <a:ext cx="4714757" cy="657225"/>
          </a:xfrm>
          <a:prstGeom prst="roundRect">
            <a:avLst>
              <a:gd name="adj" fmla="val 28985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05832" y="4724399"/>
            <a:ext cx="390515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BBF24"/>
                </a:solidFill>
              </a:rPr>
              <a:t>20%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86622" y="4781549"/>
            <a:ext cx="1523961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من قيمة كل استشارة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6733" y="2257425"/>
            <a:ext cx="5286242" cy="3295650"/>
          </a:xfrm>
          <a:prstGeom prst="roundRect">
            <a:avLst>
              <a:gd name="adj" fmla="val 11560"/>
            </a:avLst>
          </a:prstGeom>
          <a:solidFill>
            <a:srgbClr val="FFFFFF">
              <a:alpha val="15000"/>
            </a:srgbClr>
          </a:solidFill>
          <a:ln w="41275">
            <a:solidFill>
              <a:srgbClr val="9FA8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9604" y="2447924"/>
            <a:ext cx="819129" cy="380999"/>
          </a:xfrm>
          <a:prstGeom prst="roundRect">
            <a:avLst>
              <a:gd name="adj" fmla="val 100000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9604" y="2447924"/>
            <a:ext cx="819129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A3A8A"/>
                </a:solidFill>
              </a:rPr>
              <a:t>نمو عالي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95787" y="2447924"/>
            <a:ext cx="314317" cy="10667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588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00499" y="2590799"/>
            <a:ext cx="666733" cy="66675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162420" y="2795587"/>
            <a:ext cx="342891" cy="25717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52476" y="3495675"/>
            <a:ext cx="4714757" cy="4952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FFFFFF"/>
                </a:solidFill>
              </a:rPr>
              <a:t>عمولة الوكالات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2476" y="4133849"/>
            <a:ext cx="4714757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1300"/>
              </a:spcAft>
            </a:pPr>
            <a:r>
              <a:rPr sz="1196" b="0">
                <a:solidFill>
                  <a:srgbClr val="FFFFFF"/>
                </a:solidFill>
              </a:rPr>
              <a:t>رسوم من وكالات الدراسة بالخارج لكل طالب موجه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2476" y="4610099"/>
            <a:ext cx="4714757" cy="657225"/>
          </a:xfrm>
          <a:prstGeom prst="roundRect">
            <a:avLst>
              <a:gd name="adj" fmla="val 28985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33846" y="4724399"/>
            <a:ext cx="390515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BBF24"/>
                </a:solidFill>
              </a:rPr>
              <a:t>20%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76578" y="4781549"/>
            <a:ext cx="1162020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من رسوم الطالب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38719" y="5838824"/>
            <a:ext cx="5286242" cy="3581400"/>
          </a:xfrm>
          <a:prstGeom prst="roundRect">
            <a:avLst>
              <a:gd name="adj" fmla="val 10638"/>
            </a:avLst>
          </a:prstGeom>
          <a:solidFill>
            <a:srgbClr val="FFFFFF">
              <a:alpha val="15000"/>
            </a:srgbClr>
          </a:solidFill>
          <a:ln w="41275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81590" y="6029325"/>
            <a:ext cx="695307" cy="380999"/>
          </a:xfrm>
          <a:prstGeom prst="roundRect">
            <a:avLst>
              <a:gd name="adj" fmla="val 100000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81590" y="6029325"/>
            <a:ext cx="695307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A3A8A"/>
                </a:solidFill>
              </a:rPr>
              <a:t>مستقر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7773" y="6029325"/>
            <a:ext cx="314317" cy="10667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588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572485" y="6172200"/>
            <a:ext cx="666733" cy="66675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734406" y="6353339"/>
            <a:ext cx="342891" cy="304471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524461" y="7077075"/>
            <a:ext cx="4714757" cy="4952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FFFFFF"/>
                </a:solidFill>
              </a:rPr>
              <a:t>اشتراك الموجهين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4461" y="7715250"/>
            <a:ext cx="4714757" cy="571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1300"/>
              </a:spcAft>
            </a:pPr>
            <a:r>
              <a:rPr sz="1196" b="0">
                <a:solidFill>
                  <a:srgbClr val="FFFFFF"/>
                </a:solidFill>
              </a:rPr>
              <a:t>رسوم شهرية للموجهين ليكونوا "مميزين" في الصفحة الرئيسية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24461" y="8477249"/>
            <a:ext cx="4714757" cy="657225"/>
          </a:xfrm>
          <a:prstGeom prst="roundRect">
            <a:avLst>
              <a:gd name="adj" fmla="val 28985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34346" y="8591549"/>
            <a:ext cx="962000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BBF24"/>
                </a:solidFill>
              </a:rPr>
              <a:t>150 درهم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96087" y="8648699"/>
            <a:ext cx="1543011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شهرياً لكل موجه مميز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6733" y="5838824"/>
            <a:ext cx="5286242" cy="3581400"/>
          </a:xfrm>
          <a:prstGeom prst="roundRect">
            <a:avLst>
              <a:gd name="adj" fmla="val 10638"/>
            </a:avLst>
          </a:prstGeom>
          <a:solidFill>
            <a:srgbClr val="FFFFFF">
              <a:alpha val="15000"/>
            </a:srgbClr>
          </a:solidFill>
          <a:ln w="41275">
            <a:solidFill>
              <a:srgbClr val="E8EA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09604" y="6029325"/>
            <a:ext cx="1152496" cy="380999"/>
          </a:xfrm>
          <a:prstGeom prst="roundRect">
            <a:avLst>
              <a:gd name="adj" fmla="val 100000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9604" y="6029325"/>
            <a:ext cx="1152496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A3A8A"/>
                </a:solidFill>
              </a:rPr>
              <a:t>هامش مرتفع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95787" y="6029325"/>
            <a:ext cx="314317" cy="10667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588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00499" y="6172200"/>
            <a:ext cx="666733" cy="66675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162420" y="6379943"/>
            <a:ext cx="342891" cy="25126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952476" y="7077075"/>
            <a:ext cx="4714757" cy="4952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FFFFFF"/>
                </a:solidFill>
              </a:rPr>
              <a:t>المنتجات الرقمية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2476" y="7715250"/>
            <a:ext cx="4714757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1300"/>
              </a:spcAft>
            </a:pPr>
            <a:r>
              <a:rPr sz="1196" b="0">
                <a:solidFill>
                  <a:srgbClr val="FFFFFF"/>
                </a:solidFill>
              </a:rPr>
              <a:t>بيع أدلة إلكترونية مثل "دليل الدراسة في الصين/ألمانيا"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52476" y="8477249"/>
            <a:ext cx="4714757" cy="657225"/>
          </a:xfrm>
          <a:prstGeom prst="roundRect">
            <a:avLst>
              <a:gd name="adj" fmla="val 28985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19469" y="8591549"/>
            <a:ext cx="1304892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BBF24"/>
                </a:solidFill>
              </a:rPr>
              <a:t>50-100 درهم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047923" y="8648699"/>
            <a:ext cx="1076298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لكل دليل رقمي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3A8A"/>
            </a:gs>
            <a:gs pos="100000">
              <a:srgbClr val="2563EB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38719" y="476249"/>
            <a:ext cx="5286242" cy="714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950"/>
              </a:spcAft>
            </a:pPr>
            <a:r>
              <a:rPr sz="2392" b="1">
                <a:solidFill>
                  <a:srgbClr val="FFFFFF"/>
                </a:solidFill>
              </a:rPr>
              <a:t>الخاتمة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38719" y="1476375"/>
            <a:ext cx="5286242" cy="2581275"/>
          </a:xfrm>
          <a:prstGeom prst="roundRect">
            <a:avLst>
              <a:gd name="adj" fmla="val 14760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24461" y="1762125"/>
            <a:ext cx="4714757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860"/>
              </a:lnSpc>
              <a:spcBef>
                <a:spcPts val="0"/>
              </a:spcBef>
              <a:spcAft>
                <a:spcPts val="1300"/>
              </a:spcAft>
            </a:pPr>
            <a:r>
              <a:rPr sz="1913" b="1">
                <a:solidFill>
                  <a:srgbClr val="FFFFFF"/>
                </a:solidFill>
              </a:rPr>
              <a:t>لنستثمر في </a:t>
            </a:r>
            <a:r>
              <a:rPr sz="1913" b="1">
                <a:solidFill>
                  <a:srgbClr val="FBBF24"/>
                </a:solidFill>
              </a:rPr>
              <a:t>طاقات شبابنا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24461" y="2381250"/>
            <a:ext cx="4714757" cy="571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معاً، يمكننا مساعدة آلاف الطلاب على اتخاذ القرارات الصحيحة وتحقيق إمكاناتهم الكاملة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67593" y="3143250"/>
            <a:ext cx="1971625" cy="628650"/>
          </a:xfrm>
          <a:prstGeom prst="roundRect">
            <a:avLst>
              <a:gd name="adj" fmla="val 90909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67593" y="3143250"/>
            <a:ext cx="1971625" cy="6286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1300"/>
              </a:spcBef>
              <a:spcAft>
                <a:spcPts val="0"/>
              </a:spcAft>
            </a:pPr>
            <a:r>
              <a:rPr sz="1315" b="1">
                <a:solidFill>
                  <a:srgbClr val="1A3A8A"/>
                </a:solidFill>
              </a:rPr>
              <a:t>انضم إلينا اليوم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8719" y="4438649"/>
            <a:ext cx="5286242" cy="761999"/>
          </a:xfrm>
          <a:prstGeom prst="roundRect">
            <a:avLst>
              <a:gd name="adj" fmla="val 30000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858228" y="4581524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0972525" y="4721741"/>
            <a:ext cx="247643" cy="1958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86622" y="4638674"/>
            <a:ext cx="1581110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+212 5XX-XXX-XXX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8719" y="5391150"/>
            <a:ext cx="5286242" cy="761999"/>
          </a:xfrm>
          <a:prstGeom prst="roundRect">
            <a:avLst>
              <a:gd name="adj" fmla="val 30000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858228" y="5534025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972525" y="5682880"/>
            <a:ext cx="247643" cy="17853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343791" y="5591175"/>
            <a:ext cx="1323941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info@bousla.ma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8719" y="6343650"/>
            <a:ext cx="5286242" cy="761999"/>
          </a:xfrm>
          <a:prstGeom prst="roundRect">
            <a:avLst>
              <a:gd name="adj" fmla="val 30000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858228" y="6486525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972525" y="6618102"/>
            <a:ext cx="247643" cy="21309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372365" y="6543675"/>
            <a:ext cx="1295367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www.bousla.ma</a:t>
            </a:r>
          </a:p>
        </p:txBody>
      </p:sp>
      <p:pic>
        <p:nvPicPr>
          <p:cNvPr id="20" name="Picture 19" descr="image.jp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162020" y="1104900"/>
            <a:ext cx="4286142" cy="285750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1162020" y="1104900"/>
            <a:ext cx="4286142" cy="2857500"/>
          </a:xfrm>
          <a:prstGeom prst="rect">
            <a:avLst/>
          </a:prstGeom>
          <a:gradFill rotWithShape="1">
            <a:gsLst>
              <a:gs pos="0">
                <a:srgbClr val="1A3A8A">
                  <a:alpha val="70000"/>
                </a:srgbClr>
              </a:gs>
              <a:gs pos="100000">
                <a:srgbClr val="2563EB">
                  <a:alpha val="50000"/>
                </a:srgbClr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457388" y="4248150"/>
            <a:ext cx="1714457" cy="17145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2838379" y="4743573"/>
            <a:ext cx="952476" cy="72365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238319" y="6153149"/>
            <a:ext cx="2143071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8EAF6"/>
                </a:solidFill>
              </a:rPr>
              <a:t>مسح للوصول إلى نسخة تجريبية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0" y="7867649"/>
            <a:ext cx="12191695" cy="4952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1950"/>
              </a:spcBef>
              <a:spcAft>
                <a:spcPts val="0"/>
              </a:spcAft>
            </a:pPr>
            <a:r>
              <a:rPr sz="1674" b="1">
                <a:solidFill>
                  <a:srgbClr val="E8EAF6"/>
                </a:solidFill>
              </a:rPr>
              <a:t>شكراً لاهتمامكم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