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jpg"/><Relationship Id="rId7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7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25.png"/><Relationship Id="rId16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52476" y="-952499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77338" y="6143625"/>
            <a:ext cx="1428714" cy="1428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34266" y="476249"/>
            <a:ext cx="952476" cy="952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28714" y="514350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38619" y="1285875"/>
            <a:ext cx="1714457" cy="1714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3866" y="1381124"/>
            <a:ext cx="1523961" cy="15239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00559" y="1647825"/>
            <a:ext cx="76198" cy="13335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EF4444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52976" y="20002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8223" y="1381124"/>
            <a:ext cx="9524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30" y="2019299"/>
            <a:ext cx="761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7748" y="2657475"/>
            <a:ext cx="761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866" y="2019299"/>
            <a:ext cx="12382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1590" y="904874"/>
            <a:ext cx="761980" cy="761999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5867" y="1352549"/>
            <a:ext cx="380990" cy="190499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3471" y="1609724"/>
            <a:ext cx="38099" cy="38099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7173" y="3381375"/>
            <a:ext cx="2057348" cy="1247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4186" b="1">
                <a:solidFill>
                  <a:srgbClr val="FFFFFF"/>
                </a:solidFill>
              </a:rPr>
              <a:t>Bousla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52956" y="4819650"/>
            <a:ext cx="67625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بوصلة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0339" y="5200650"/>
            <a:ext cx="539101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لأن 12 سنة من الدراسة لا يجب أن تضيع بقرار خاطئ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476249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المشكلة العميقة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8719" y="1476375"/>
            <a:ext cx="5286242" cy="1485900"/>
          </a:xfrm>
          <a:prstGeom prst="roundRect">
            <a:avLst>
              <a:gd name="adj" fmla="val 1538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2980" y="19335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2110886"/>
            <a:ext cx="304792" cy="2168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214" y="1666874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العبء المالي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214" y="2143125"/>
            <a:ext cx="414327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غلاء مكاتب الاستشارة الخاصة وتكاليف التنقل الباهظة نحو المدن الكبرى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719" y="3200400"/>
            <a:ext cx="5286242" cy="1485900"/>
          </a:xfrm>
          <a:prstGeom prst="roundRect">
            <a:avLst>
              <a:gd name="adj" fmla="val 1538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62980" y="36576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3820257"/>
            <a:ext cx="304792" cy="246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29214" y="3390899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المخاطرة الكبيرة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214" y="3867149"/>
            <a:ext cx="414327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توجيه سيء = </a:t>
            </a:r>
            <a:r>
              <a:rPr sz="1076" b="1">
                <a:solidFill>
                  <a:srgbClr val="FBBF24"/>
                </a:solidFill>
              </a:rPr>
              <a:t>ضياع 12 سنة</a:t>
            </a:r>
            <a:r>
              <a:rPr sz="1076" b="0">
                <a:solidFill>
                  <a:srgbClr val="FFFFFF"/>
                </a:solidFill>
              </a:rPr>
              <a:t> من الجهد الدراسي = بطالة وفقر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8719" y="4924424"/>
            <a:ext cx="5286242" cy="1485900"/>
          </a:xfrm>
          <a:prstGeom prst="roundRect">
            <a:avLst>
              <a:gd name="adj" fmla="val 1538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62980" y="53816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5538421"/>
            <a:ext cx="304792" cy="2579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29214" y="51149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الخطاف العاطفي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214" y="5591175"/>
            <a:ext cx="414327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آلاف التلاميذ يختارون مسارات لا تناسبهم، والنتيجة سنوات ضائعة ومستقبل مجهول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295399"/>
            <a:ext cx="4286142" cy="42862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924201" y="1485900"/>
            <a:ext cx="1342991" cy="466724"/>
          </a:xfrm>
          <a:prstGeom prst="roundRect">
            <a:avLst>
              <a:gd name="adj" fmla="val 81632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914777" y="1648385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76598" y="1562100"/>
            <a:ext cx="77150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قرار خاطئ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2020" y="1295399"/>
            <a:ext cx="4286142" cy="428625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29014" y="3200400"/>
            <a:ext cx="742931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9014" y="3200400"/>
            <a:ext cx="742931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763" y="394335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الطلاب يغيرون تخصصاتهم بعد سنة من الدراسة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9014" y="4248150"/>
            <a:ext cx="742931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9014" y="4248150"/>
            <a:ext cx="742931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7763" y="499110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الخريجين يعملون في مجالات غير تخصصاتهم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476249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8719" y="1476375"/>
            <a:ext cx="5286242" cy="6667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بوصلة - البوصلة الرقمية التي توجه الطلاب نحو المستقبل المناسب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252412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62980" y="28289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2991582"/>
            <a:ext cx="304792" cy="24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29214" y="27146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إرشاد ميسور التكلفة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214" y="319087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تكلفة أقل بـ </a:t>
            </a:r>
            <a:r>
              <a:rPr sz="1076" b="1">
                <a:solidFill>
                  <a:srgbClr val="FBBF24"/>
                </a:solidFill>
              </a:rPr>
              <a:t>80%</a:t>
            </a:r>
            <a:r>
              <a:rPr sz="1076" b="0">
                <a:solidFill>
                  <a:srgbClr val="FFFFFF"/>
                </a:solidFill>
              </a:rPr>
              <a:t> من الاستشارات التقليدية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719" y="3933824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62980" y="42386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4411540"/>
            <a:ext cx="304792" cy="2256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29214" y="4124324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لا حاجة للتنقل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214" y="4600575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استشارات مباشرة من منزلك عبر الفيديو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8719" y="534352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62980" y="56483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5790467"/>
            <a:ext cx="304792" cy="2872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9214" y="55340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تجارب حقيقية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214" y="601027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موجهون من طلاب نجحوا في نفس المسارات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62020" y="1352549"/>
            <a:ext cx="4286142" cy="4286250"/>
          </a:xfrm>
          <a:prstGeom prst="roundRect">
            <a:avLst>
              <a:gd name="adj" fmla="val 888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048023" y="1209674"/>
            <a:ext cx="1543011" cy="476249"/>
          </a:xfrm>
          <a:prstGeom prst="roundRect">
            <a:avLst>
              <a:gd name="adj" fmla="val 8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19569" y="1297304"/>
            <a:ext cx="228594" cy="2057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00419" y="1295399"/>
            <a:ext cx="97152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8A"/>
                </a:solidFill>
              </a:rPr>
              <a:t>موجه معتمد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81430" y="1543050"/>
            <a:ext cx="476238" cy="476249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76678" y="1658710"/>
            <a:ext cx="285742" cy="244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19449" y="1571625"/>
            <a:ext cx="62863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بوصلة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2516" y="2209800"/>
            <a:ext cx="3905152" cy="2333624"/>
          </a:xfrm>
          <a:prstGeom prst="roundRect">
            <a:avLst>
              <a:gd name="adj" fmla="val 9795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52516" y="2209800"/>
            <a:ext cx="3905152" cy="2333624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71725" y="30479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124121" y="3265289"/>
            <a:ext cx="380990" cy="232171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648083" y="39242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76598" y="39242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33786" y="4829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57608" y="4974431"/>
            <a:ext cx="228594" cy="18573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562260" y="4829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686082" y="5004435"/>
            <a:ext cx="228594" cy="12572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2581210" y="4829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705032" y="4970144"/>
            <a:ext cx="228594" cy="19430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609684" y="48291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733506" y="5015865"/>
            <a:ext cx="228594" cy="1028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52956" y="800100"/>
            <a:ext cx="5772005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التأثير الاجتماعي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52956" y="1800225"/>
            <a:ext cx="5772005" cy="2105024"/>
          </a:xfrm>
          <a:prstGeom prst="roundRect">
            <a:avLst>
              <a:gd name="adj" fmla="val 18099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82030" y="2495550"/>
            <a:ext cx="361940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10604" y="2664069"/>
            <a:ext cx="304792" cy="234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29554" y="2438400"/>
            <a:ext cx="847703" cy="695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BBF24"/>
                </a:solidFill>
              </a:rPr>
              <a:t>توجيه صحيح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3811" y="2590799"/>
            <a:ext cx="15239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3751" y="2495550"/>
            <a:ext cx="361940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72325" y="2658207"/>
            <a:ext cx="304792" cy="246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00779" y="2438400"/>
            <a:ext cx="1038199" cy="695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BBF24"/>
                </a:solidFill>
              </a:rPr>
              <a:t>وظيفة حقيقية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5037" y="2590799"/>
            <a:ext cx="15239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72125" y="2495550"/>
            <a:ext cx="304792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972125" y="2699238"/>
            <a:ext cx="304792" cy="1641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8699" y="2085975"/>
            <a:ext cx="838179" cy="1390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BBF24"/>
                </a:solidFill>
              </a:rPr>
              <a:t>خروج من دائرة الفقر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52956" y="4286250"/>
            <a:ext cx="5772005" cy="1771650"/>
          </a:xfrm>
          <a:prstGeom prst="roundRect">
            <a:avLst>
              <a:gd name="adj" fmla="val 215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8699" y="4572000"/>
            <a:ext cx="5200519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</a:t>
            </a:r>
            <a:r>
              <a:rPr sz="1435" b="1">
                <a:solidFill>
                  <a:srgbClr val="FFFFFF"/>
                </a:solidFill>
              </a:rPr>
              <a:t>رؤيتنا</a:t>
            </a:r>
            <a:r>
              <a:rPr sz="1435" b="1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72525" y="4691683"/>
            <a:ext cx="266693" cy="1797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8699" y="5143500"/>
            <a:ext cx="5200519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 بناء مجتمع </a:t>
            </a:r>
            <a:r>
              <a:rPr sz="1315" b="1">
                <a:solidFill>
                  <a:srgbClr val="FBBF24"/>
                </a:solidFill>
              </a:rPr>
              <a:t>متماسك وسعيد</a:t>
            </a:r>
            <a:r>
              <a:rPr sz="1315" b="0">
                <a:solidFill>
                  <a:srgbClr val="FFFFFF"/>
                </a:solidFill>
              </a:rPr>
              <a:t>، حيث يعمل كل فرد في المجال الذي يبدع فيه </a:t>
            </a:r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23901" y="1285875"/>
            <a:ext cx="4286142" cy="42862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543211" y="1476375"/>
            <a:ext cx="1476338" cy="466724"/>
          </a:xfrm>
          <a:prstGeom prst="roundRect">
            <a:avLst>
              <a:gd name="adj" fmla="val 81632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76658" y="1624852"/>
            <a:ext cx="190495" cy="17929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95607" y="1552574"/>
            <a:ext cx="90485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8A"/>
                </a:solidFill>
              </a:rPr>
              <a:t>تأثير حقيقي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901" y="1285875"/>
            <a:ext cx="4286142" cy="428625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67073" y="2143125"/>
            <a:ext cx="857228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7073" y="2143125"/>
            <a:ext cx="857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+85%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9644" y="287654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زيادة فرص الحصول على وظيفة مناسبة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647" y="3190874"/>
            <a:ext cx="828654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647" y="3190874"/>
            <a:ext cx="828654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-60%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9644" y="392429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انخفاض معدلات التسرب الجامعي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7073" y="4238624"/>
            <a:ext cx="857228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7073" y="4238624"/>
            <a:ext cx="857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+70%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9644" y="497205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تحسين الرضا الوظيفي والإنتاجية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الفئة المستهدفة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67473" y="1476375"/>
            <a:ext cx="3457488" cy="5762625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10344" y="1666874"/>
            <a:ext cx="1485862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10344" y="1666874"/>
            <a:ext cx="148586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المستخدم الرئيسي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0464" y="18097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600959" y="2044898"/>
            <a:ext cx="380990" cy="2917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91415" y="2762249"/>
            <a:ext cx="800079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الطلاب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2305" y="3400425"/>
            <a:ext cx="2047823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الباحثون عن المسار الصحيح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3216" y="3943350"/>
            <a:ext cx="288600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196" b="0">
                <a:solidFill>
                  <a:srgbClr val="FFFFFF"/>
                </a:solidFill>
              </a:rPr>
              <a:t>تلاميذ الثانوية والجامعيين الذين يواجهون تحديات في اختيار التخصصات والمسارات المهنية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3216" y="5038724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05852" y="5239310"/>
            <a:ext cx="190495" cy="151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3771" y="5153024"/>
            <a:ext cx="16668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يحتاجون توجيهاً </a:t>
            </a:r>
            <a:r>
              <a:rPr sz="1076" b="1">
                <a:solidFill>
                  <a:srgbClr val="FBBF24"/>
                </a:solidFill>
              </a:rPr>
              <a:t>مخصصاً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3216" y="56769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58623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29474" y="5791200"/>
            <a:ext cx="178113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يبحثون عن إجابات موثوقة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3216" y="63150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05852" y="6538072"/>
            <a:ext cx="190495" cy="106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53296" y="6429375"/>
            <a:ext cx="165730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يرغبون في تحقيق النجاح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2340" y="1476375"/>
            <a:ext cx="3457488" cy="5762625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05212" y="1666874"/>
            <a:ext cx="1057248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5212" y="1666874"/>
            <a:ext cx="105724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المستثمرون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4857" y="18097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905352" y="2030015"/>
            <a:ext cx="380990" cy="3214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7233" y="2762249"/>
            <a:ext cx="866753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الأولياء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361" y="3400425"/>
            <a:ext cx="114297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شريك في القرار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083" y="3943350"/>
            <a:ext cx="288600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196" b="0">
                <a:solidFill>
                  <a:srgbClr val="FFFFFF"/>
                </a:solidFill>
              </a:rPr>
              <a:t>الأباء والأمهات الذين يرغبون في مساعدة أبنائهم على اتخاذ القرار الصحيح أو التأكد من اختياراتهم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8083" y="5038724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210244" y="5225302"/>
            <a:ext cx="190495" cy="179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52876" y="5153024"/>
            <a:ext cx="216212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يطمئنون على </a:t>
            </a:r>
            <a:r>
              <a:rPr sz="1076" b="1">
                <a:solidFill>
                  <a:srgbClr val="FBBF24"/>
                </a:solidFill>
              </a:rPr>
              <a:t>مستقبل أبنائهم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8083" y="56769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10244" y="5873563"/>
            <a:ext cx="190495" cy="1400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76758" y="5791200"/>
            <a:ext cx="14382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يستثمرون في التعليم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48083" y="63150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210244" y="6515660"/>
            <a:ext cx="190495" cy="15127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91035" y="6429375"/>
            <a:ext cx="151443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يحتاجون دعماً للقرارات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3" y="1476375"/>
            <a:ext cx="3457488" cy="5762625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9604" y="1666874"/>
            <a:ext cx="761980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604" y="1666874"/>
            <a:ext cx="76198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الشركاء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9249" y="180974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2209744" y="2050851"/>
            <a:ext cx="380990" cy="2797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90655" y="2762249"/>
            <a:ext cx="1209644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الموجهون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38279" y="3400425"/>
            <a:ext cx="112392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النخبة المتميزة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476" y="3943350"/>
            <a:ext cx="288600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196" b="0">
                <a:solidFill>
                  <a:srgbClr val="FFFFFF"/>
                </a:solidFill>
              </a:rPr>
              <a:t>الطلاب المتفوقون والخبراء الذين يرغبون في مشاركة خبراتهم وتوجيه الجيل القادم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476" y="5038724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3505112" y="5239310"/>
            <a:ext cx="190495" cy="1512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743031" y="5153024"/>
            <a:ext cx="16668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يمتلكون </a:t>
            </a:r>
            <a:r>
              <a:rPr sz="1076" b="1">
                <a:solidFill>
                  <a:srgbClr val="FBBF24"/>
                </a:solidFill>
              </a:rPr>
              <a:t>تجارب حقيقية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2476" y="56769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505112" y="5873563"/>
            <a:ext cx="190495" cy="14007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857328" y="5791200"/>
            <a:ext cx="155253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يبحثون عن دخل إضافي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2476" y="63150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505112" y="6510057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952576" y="6429375"/>
            <a:ext cx="145728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يرغبون في المساعدة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خارطة الطريق التنفيذية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91595" y="147637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29214" y="1562100"/>
            <a:ext cx="4524261" cy="2857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0599" y="147637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8219" y="1562100"/>
            <a:ext cx="4524261" cy="2857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04" y="147637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67473" y="2047874"/>
            <a:ext cx="3457488" cy="6438899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7773" y="223837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72485" y="238125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34406" y="2622987"/>
            <a:ext cx="342891" cy="183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3216" y="3286125"/>
            <a:ext cx="2886002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تطوير التطبيق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216" y="3924299"/>
            <a:ext cx="2886002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البحث عن النخبة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216" y="4467224"/>
            <a:ext cx="288600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FFFFFF"/>
                </a:solidFill>
              </a:rPr>
              <a:t>بناء منصة قوية وتجميع أفضل الموجهين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3216" y="557212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05852" y="5758702"/>
            <a:ext cx="190495" cy="1792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0444" y="5686425"/>
            <a:ext cx="16001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تطوير واجهة المستخدم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3216" y="622935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644282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3771" y="6343650"/>
            <a:ext cx="16668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نظام الفيديو والمحادثات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3216" y="68865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05852" y="7101167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19969" y="7000875"/>
            <a:ext cx="159063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اختيار </a:t>
            </a:r>
            <a:r>
              <a:rPr sz="1076" b="1">
                <a:solidFill>
                  <a:srgbClr val="FBBF24"/>
                </a:solidFill>
              </a:rPr>
              <a:t>الموجهين النخبة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3216" y="75438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05852" y="7720852"/>
            <a:ext cx="190495" cy="1792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29474" y="7658100"/>
            <a:ext cx="178113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حماية البيانات والخصوصية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2340" y="2047874"/>
            <a:ext cx="3457488" cy="6438899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2640" y="223837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76878" y="238125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38799" y="2568301"/>
            <a:ext cx="342891" cy="2926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48083" y="3286125"/>
            <a:ext cx="2886002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الدمج والاختبار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083" y="3924299"/>
            <a:ext cx="2886002" cy="704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دمج الموجهين واختبار جودة مكالمات الفيديو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819650"/>
            <a:ext cx="2886002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FFFFFF"/>
                </a:solidFill>
              </a:rPr>
              <a:t>ضمان تجربة مستخدم سلسة وموثوقية عالية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48083" y="557212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10244" y="5778313"/>
            <a:ext cx="190495" cy="1400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57688" y="5686425"/>
            <a:ext cx="165730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إعداد حسابات الموجهين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48083" y="622935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210244" y="6406402"/>
            <a:ext cx="190495" cy="1792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152896" y="6343650"/>
            <a:ext cx="196210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التحقق من صحة المعلومات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48083" y="68865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210244" y="7094163"/>
            <a:ext cx="190495" cy="1372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743431" y="7000875"/>
            <a:ext cx="137156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اختبار </a:t>
            </a:r>
            <a:r>
              <a:rPr sz="1076" b="1">
                <a:solidFill>
                  <a:srgbClr val="FBBF24"/>
                </a:solidFill>
              </a:rPr>
              <a:t>جودة الفيديو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48083" y="75438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210244" y="7729257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200519" y="7658100"/>
            <a:ext cx="19144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جمع ملاحظات المستخدمين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733" y="2047874"/>
            <a:ext cx="3457488" cy="6438899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67033" y="223837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71745" y="238125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333666" y="2571257"/>
            <a:ext cx="342891" cy="28673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52476" y="3286125"/>
            <a:ext cx="2886002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الإطلاق والتسويق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476" y="3924299"/>
            <a:ext cx="2886002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الإطلاق الرسمي والحملات التسويقية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476" y="4467224"/>
            <a:ext cx="2886002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FFFFFF"/>
                </a:solidFill>
              </a:rPr>
              <a:t>الوصول إلى أكبر عدد من الطلاب وأولياء الأمور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2476" y="557212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505112" y="5778313"/>
            <a:ext cx="190495" cy="14007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04932" y="5686425"/>
            <a:ext cx="17144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حملات إعلانية مستهدفة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2476" y="622935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505112" y="6420410"/>
            <a:ext cx="190495" cy="15127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990675" y="6343650"/>
            <a:ext cx="141918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شراكات مع المدارس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2476" y="68865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505112" y="7109572"/>
            <a:ext cx="190495" cy="10645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924001" y="7000875"/>
            <a:ext cx="148586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تحليل </a:t>
            </a:r>
            <a:r>
              <a:rPr sz="1076" b="1">
                <a:solidFill>
                  <a:srgbClr val="FBBF24"/>
                </a:solidFill>
              </a:rPr>
              <a:t>مؤشرات الأداء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2476" y="75438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505112" y="7734860"/>
            <a:ext cx="190495" cy="15127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600159" y="7658100"/>
            <a:ext cx="180970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دعم فني على مدار الساعة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نموذج العمل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76375"/>
            <a:ext cx="1085822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مصادر الدخل المتنوعة لضمان استدامة النمو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2257425"/>
            <a:ext cx="5286242" cy="3295650"/>
          </a:xfrm>
          <a:prstGeom prst="roundRect">
            <a:avLst>
              <a:gd name="adj" fmla="val 11560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590" y="2447924"/>
            <a:ext cx="904852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1590" y="2447924"/>
            <a:ext cx="90485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أهم مصدر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7773" y="2447924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72485" y="25907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34406" y="2832537"/>
            <a:ext cx="342891" cy="183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24461" y="34956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عمولة مكالمات الفيديو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461" y="4133849"/>
            <a:ext cx="47147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نسبة من كل استشارة فيديو بين الطالب والموجه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4461" y="461009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05832" y="4724399"/>
            <a:ext cx="39051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6622" y="4781549"/>
            <a:ext cx="15239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قيمة كل استشارة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257425"/>
            <a:ext cx="5286242" cy="3295650"/>
          </a:xfrm>
          <a:prstGeom prst="roundRect">
            <a:avLst>
              <a:gd name="adj" fmla="val 11560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604" y="2447924"/>
            <a:ext cx="819129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604" y="2447924"/>
            <a:ext cx="81912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نمو عالي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5787" y="2447924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499" y="25907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162420" y="2795587"/>
            <a:ext cx="342891" cy="2571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2476" y="34956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عمولة الوكالات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4133849"/>
            <a:ext cx="47147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رسوم من وكالات الدراسة بالخارج لكل طالب موجه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476" y="461009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3846" y="4724399"/>
            <a:ext cx="39051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6578" y="4781549"/>
            <a:ext cx="116202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رسوم الطالب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5838824"/>
            <a:ext cx="5286242" cy="3581400"/>
          </a:xfrm>
          <a:prstGeom prst="roundRect">
            <a:avLst>
              <a:gd name="adj" fmla="val 10638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81590" y="6029325"/>
            <a:ext cx="695307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1590" y="6029325"/>
            <a:ext cx="69530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مستقر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7773" y="602932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72485" y="61722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34406" y="6353339"/>
            <a:ext cx="342891" cy="3044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24461" y="70770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اشتراك الموجهين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461" y="7715250"/>
            <a:ext cx="471475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رسوم شهرية للموجهين ليكونوا "مميزين" في الصفحة الرئيسية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24461" y="847724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34346" y="8591549"/>
            <a:ext cx="96200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150 درهم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6087" y="8648699"/>
            <a:ext cx="154301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شهرياً لكل موجه مميز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3" y="5838824"/>
            <a:ext cx="5286242" cy="3581400"/>
          </a:xfrm>
          <a:prstGeom prst="roundRect">
            <a:avLst>
              <a:gd name="adj" fmla="val 10638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9604" y="6029325"/>
            <a:ext cx="1152496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604" y="6029325"/>
            <a:ext cx="115249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هامش مرتفع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95787" y="602932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00499" y="61722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62420" y="6379943"/>
            <a:ext cx="342891" cy="2512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52476" y="70770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المنتجات الرقمية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476" y="7715250"/>
            <a:ext cx="47147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بيع أدلة إلكترونية مثل "دليل الدراسة في الصين/ألمانيا"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476" y="847724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19469" y="8591549"/>
            <a:ext cx="130489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50-100 درهم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47923" y="8648699"/>
            <a:ext cx="107629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لكل دليل رقمي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476249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الخاتمة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8719" y="1476375"/>
            <a:ext cx="5286242" cy="2581275"/>
          </a:xfrm>
          <a:prstGeom prst="roundRect">
            <a:avLst>
              <a:gd name="adj" fmla="val 1476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24461" y="1762125"/>
            <a:ext cx="471475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1300"/>
              </a:spcAft>
            </a:pPr>
            <a:r>
              <a:rPr sz="1913" b="1">
                <a:solidFill>
                  <a:srgbClr val="FFFFFF"/>
                </a:solidFill>
              </a:rPr>
              <a:t>كن شريكاً في توجيه جيل كامل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4461" y="2381250"/>
            <a:ext cx="471475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معاً، يمكننا مساعدة آلاف الطلاب على اتخاذ القرارات الصحيحة وتحقيق إمكاناتهم الكاملة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7593" y="3143250"/>
            <a:ext cx="1971625" cy="628650"/>
          </a:xfrm>
          <a:prstGeom prst="roundRect">
            <a:avLst>
              <a:gd name="adj" fmla="val 90909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67593" y="3143250"/>
            <a:ext cx="1971625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315" b="1">
                <a:solidFill>
                  <a:srgbClr val="1A3A8A"/>
                </a:solidFill>
              </a:rPr>
              <a:t>انضم إلينا اليوم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719" y="4438649"/>
            <a:ext cx="5286242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58228" y="45815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972525" y="4721741"/>
            <a:ext cx="247643" cy="195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86622" y="4638674"/>
            <a:ext cx="1581110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+212 5XX-XXX-XXX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19" y="5391150"/>
            <a:ext cx="5286242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58228" y="55340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72525" y="5682880"/>
            <a:ext cx="247643" cy="1785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43791" y="5591175"/>
            <a:ext cx="132394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info@bousla.ma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6343650"/>
            <a:ext cx="5286242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58228" y="64865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72525" y="6618102"/>
            <a:ext cx="247643" cy="2130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72365" y="6543675"/>
            <a:ext cx="1295367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www.bousla.ma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104900"/>
            <a:ext cx="4286142" cy="2857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457388" y="4248150"/>
            <a:ext cx="1714457" cy="17145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838379" y="4743573"/>
            <a:ext cx="952476" cy="7236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38319" y="6153149"/>
            <a:ext cx="21430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8EAF6"/>
                </a:solidFill>
              </a:rPr>
              <a:t>مسح للوصول إلى نسخة تجريبية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7867649"/>
            <a:ext cx="12191695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950"/>
              </a:spcBef>
              <a:spcAft>
                <a:spcPts val="0"/>
              </a:spcAft>
            </a:pPr>
            <a:r>
              <a:rPr sz="1674" b="1">
                <a:solidFill>
                  <a:srgbClr val="E8EAF6"/>
                </a:solidFill>
              </a:rPr>
              <a:t>شكراً لاهتمامكم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