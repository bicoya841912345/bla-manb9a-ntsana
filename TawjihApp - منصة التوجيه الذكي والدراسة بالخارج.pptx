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jp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jp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Relationship Id="rId10" Type="http://schemas.openxmlformats.org/officeDocument/2006/relationships/image" Target="../media/image38.png"/><Relationship Id="rId11" Type="http://schemas.openxmlformats.org/officeDocument/2006/relationships/image" Target="../media/image39.png"/><Relationship Id="rId12" Type="http://schemas.openxmlformats.org/officeDocument/2006/relationships/image" Target="../media/image40.png"/><Relationship Id="rId13" Type="http://schemas.openxmlformats.org/officeDocument/2006/relationships/image" Target="../media/image4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35.png"/><Relationship Id="rId6" Type="http://schemas.openxmlformats.org/officeDocument/2006/relationships/image" Target="../media/image50.png"/><Relationship Id="rId7" Type="http://schemas.openxmlformats.org/officeDocument/2006/relationships/image" Target="../media/image51.png"/><Relationship Id="rId8" Type="http://schemas.openxmlformats.org/officeDocument/2006/relationships/image" Target="../media/image52.png"/><Relationship Id="rId9" Type="http://schemas.openxmlformats.org/officeDocument/2006/relationships/image" Target="../media/image41.png"/><Relationship Id="rId10" Type="http://schemas.openxmlformats.org/officeDocument/2006/relationships/image" Target="../media/image53.png"/><Relationship Id="rId11" Type="http://schemas.openxmlformats.org/officeDocument/2006/relationships/image" Target="../media/image54.png"/><Relationship Id="rId12" Type="http://schemas.openxmlformats.org/officeDocument/2006/relationships/image" Target="../media/image32.png"/><Relationship Id="rId13" Type="http://schemas.openxmlformats.org/officeDocument/2006/relationships/image" Target="../media/image5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Relationship Id="rId3" Type="http://schemas.openxmlformats.org/officeDocument/2006/relationships/image" Target="../media/image57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image" Target="../media/image58.png"/><Relationship Id="rId7" Type="http://schemas.openxmlformats.org/officeDocument/2006/relationships/image" Target="../media/image32.png"/><Relationship Id="rId8" Type="http://schemas.openxmlformats.org/officeDocument/2006/relationships/image" Target="../media/image54.png"/><Relationship Id="rId9" Type="http://schemas.openxmlformats.org/officeDocument/2006/relationships/image" Target="../media/image41.png"/><Relationship Id="rId10" Type="http://schemas.openxmlformats.org/officeDocument/2006/relationships/image" Target="../media/image59.png"/><Relationship Id="rId11" Type="http://schemas.openxmlformats.org/officeDocument/2006/relationships/image" Target="../media/image60.png"/><Relationship Id="rId12" Type="http://schemas.openxmlformats.org/officeDocument/2006/relationships/image" Target="../media/image31.png"/><Relationship Id="rId13" Type="http://schemas.openxmlformats.org/officeDocument/2006/relationships/image" Target="../media/image6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jpg"/><Relationship Id="rId6" Type="http://schemas.openxmlformats.org/officeDocument/2006/relationships/image" Target="../media/image6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237E">
                <a:alpha val="90000"/>
              </a:srgbClr>
            </a:gs>
            <a:gs pos="100000">
              <a:srgbClr val="3F51B5">
                <a:alpha val="85000"/>
              </a:srgbClr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524361" y="1476375"/>
            <a:ext cx="1142971" cy="1143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810104" y="1829002"/>
            <a:ext cx="571485" cy="4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52836" y="3000375"/>
            <a:ext cx="3086022" cy="1219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1300"/>
              </a:spcAft>
            </a:pPr>
            <a:r>
              <a:rPr sz="4066" b="1">
                <a:solidFill>
                  <a:srgbClr val="FFFFFF"/>
                </a:solidFill>
              </a:rPr>
              <a:t>TawjihApp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24221" y="4410074"/>
            <a:ext cx="3952776" cy="4952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3250"/>
              </a:spcAft>
            </a:pPr>
            <a:r>
              <a:rPr sz="1674" b="0">
                <a:solidFill>
                  <a:srgbClr val="FFFFFF"/>
                </a:solidFill>
              </a:rPr>
              <a:t>منصة التوجيه الذكي والدراسة بالخارج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10504" y="3047999"/>
            <a:ext cx="1714457" cy="3429000"/>
          </a:xfrm>
          <a:prstGeom prst="roundRect">
            <a:avLst>
              <a:gd name="adj" fmla="val 33333"/>
            </a:avLst>
          </a:prstGeom>
          <a:solidFill>
            <a:srgbClr val="FFFFFF">
              <a:alpha val="10000"/>
            </a:srgbClr>
          </a:solidFill>
          <a:ln w="165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972425" y="3209925"/>
            <a:ext cx="1390615" cy="3105149"/>
          </a:xfrm>
          <a:prstGeom prst="roundRect">
            <a:avLst>
              <a:gd name="adj" fmla="val 2739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972425" y="3209925"/>
            <a:ext cx="1390615" cy="3105149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972425" y="3209925"/>
            <a:ext cx="1390615" cy="57150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72425" y="3209925"/>
            <a:ext cx="139061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TawjihApp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15297" y="3924299"/>
            <a:ext cx="1104872" cy="847724"/>
          </a:xfrm>
          <a:prstGeom prst="roundRect">
            <a:avLst>
              <a:gd name="adj" fmla="val 2247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972525" y="4210049"/>
            <a:ext cx="152396" cy="285750"/>
          </a:xfrm>
          <a:prstGeom prst="roundRect">
            <a:avLst>
              <a:gd name="adj" fmla="val 50000"/>
            </a:avLst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972525" y="4299857"/>
            <a:ext cx="152396" cy="8708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10544" y="4019549"/>
            <a:ext cx="666733" cy="6572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33333"/>
                </a:solidFill>
              </a:rPr>
              <a:t>استشارات فيديو مع الخبراء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15297" y="4867274"/>
            <a:ext cx="1104872" cy="628650"/>
          </a:xfrm>
          <a:prstGeom prst="roundRect">
            <a:avLst>
              <a:gd name="adj" fmla="val 3030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934426" y="5038724"/>
            <a:ext cx="190495" cy="285750"/>
          </a:xfrm>
          <a:prstGeom prst="roundRect">
            <a:avLst>
              <a:gd name="adj" fmla="val 50000"/>
            </a:avLst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0953476" y="5123089"/>
            <a:ext cx="152396" cy="11702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210544" y="4962525"/>
            <a:ext cx="628634" cy="4381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33333"/>
                </a:solidFill>
              </a:rPr>
              <a:t>إرشاد للدراسة بالخارج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15297" y="5591175"/>
            <a:ext cx="1104872" cy="628650"/>
          </a:xfrm>
          <a:prstGeom prst="roundRect">
            <a:avLst>
              <a:gd name="adj" fmla="val 3030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943951" y="5762625"/>
            <a:ext cx="180970" cy="285750"/>
          </a:xfrm>
          <a:prstGeom prst="roundRect">
            <a:avLst>
              <a:gd name="adj" fmla="val 50000"/>
            </a:avLst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0963000" y="5845628"/>
            <a:ext cx="152396" cy="11974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210544" y="5686425"/>
            <a:ext cx="638159" cy="4381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33333"/>
                </a:solidFill>
              </a:rPr>
              <a:t>توجيه جامعي مخصص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15297" y="6315075"/>
            <a:ext cx="1104872" cy="847724"/>
          </a:xfrm>
          <a:prstGeom prst="roundRect">
            <a:avLst>
              <a:gd name="adj" fmla="val 2247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972525" y="6591300"/>
            <a:ext cx="152396" cy="285750"/>
          </a:xfrm>
          <a:prstGeom prst="roundRect">
            <a:avLst>
              <a:gd name="adj" fmla="val 50000"/>
            </a:avLst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0972525" y="6694714"/>
            <a:ext cx="152396" cy="9797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210544" y="6410324"/>
            <a:ext cx="666733" cy="6572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33333"/>
                </a:solidFill>
              </a:rPr>
              <a:t>مجتمع من الطلاب والخبراء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237E">
                <a:alpha val="90000"/>
              </a:srgbClr>
            </a:gs>
            <a:gs pos="100000">
              <a:srgbClr val="3F51B5">
                <a:alpha val="85000"/>
              </a:srgbClr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38719" y="1314450"/>
            <a:ext cx="5286242" cy="714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950"/>
              </a:spcAft>
            </a:pPr>
            <a:r>
              <a:rPr sz="2392" b="1">
                <a:solidFill>
                  <a:srgbClr val="FFFFFF"/>
                </a:solidFill>
              </a:rPr>
              <a:t>مقدمة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38719" y="2314575"/>
            <a:ext cx="5286242" cy="6667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2600"/>
              </a:spcAft>
            </a:pPr>
            <a:r>
              <a:rPr sz="1315" b="0">
                <a:solidFill>
                  <a:srgbClr val="FFFFFF"/>
                </a:solidFill>
              </a:rPr>
              <a:t>TawjihApp هو جسر يربط بين الطلاب والمرشدين الخبراء، يوفر إرشاداً مخصصاً للجامعات المحلية والدراسة بالخارج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72325" y="3371850"/>
            <a:ext cx="2552636" cy="990599"/>
          </a:xfrm>
          <a:prstGeom prst="roundRect">
            <a:avLst>
              <a:gd name="adj" fmla="val 23076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1067773" y="3794677"/>
            <a:ext cx="266693" cy="14494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62820" y="3514725"/>
            <a:ext cx="1762080" cy="7048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استشارات فيديو مباشرة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8719" y="3371850"/>
            <a:ext cx="2552636" cy="990599"/>
          </a:xfrm>
          <a:prstGeom prst="roundRect">
            <a:avLst>
              <a:gd name="adj" fmla="val 23076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324641" y="3762789"/>
            <a:ext cx="266693" cy="20872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67313" y="3686175"/>
            <a:ext cx="1723981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توجيه جامعي مخصص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72325" y="4552949"/>
            <a:ext cx="2552636" cy="990599"/>
          </a:xfrm>
          <a:prstGeom prst="roundRect">
            <a:avLst>
              <a:gd name="adj" fmla="val 23076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067773" y="4946788"/>
            <a:ext cx="266693" cy="20292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362840" y="4867274"/>
            <a:ext cx="1562060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إرشاد للدراسة بالخارج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8719" y="4552949"/>
            <a:ext cx="2552636" cy="990599"/>
          </a:xfrm>
          <a:prstGeom prst="roundRect">
            <a:avLst>
              <a:gd name="adj" fmla="val 23076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324641" y="4964181"/>
            <a:ext cx="266693" cy="16813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29214" y="4695824"/>
            <a:ext cx="1762080" cy="7048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شبكة من الخبراء والطلاب</a:t>
            </a:r>
          </a:p>
        </p:txBody>
      </p:sp>
      <p:pic>
        <p:nvPicPr>
          <p:cNvPr id="16" name="Picture 15" descr="image.jp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409664" y="1523999"/>
            <a:ext cx="3809904" cy="3809999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2552636" y="3047999"/>
            <a:ext cx="114297" cy="114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076598" y="2667000"/>
            <a:ext cx="114297" cy="114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267093" y="3809999"/>
            <a:ext cx="114297" cy="114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886102" y="4190999"/>
            <a:ext cx="114297" cy="114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43111" y="2752725"/>
            <a:ext cx="1142971" cy="1905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43111" y="3429000"/>
            <a:ext cx="1333466" cy="1905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43111" y="3809999"/>
            <a:ext cx="1047723" cy="1905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362140" y="2857500"/>
            <a:ext cx="1171545" cy="342900"/>
          </a:xfrm>
          <a:prstGeom prst="roundRect">
            <a:avLst>
              <a:gd name="adj" fmla="val 83333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62140" y="2857500"/>
            <a:ext cx="1171545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F51B5"/>
                </a:solidFill>
              </a:rPr>
              <a:t>طالب من المغرب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52796" y="2476499"/>
            <a:ext cx="1104872" cy="342900"/>
          </a:xfrm>
          <a:prstGeom prst="roundRect">
            <a:avLst>
              <a:gd name="adj" fmla="val 83333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52796" y="2476499"/>
            <a:ext cx="110487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F51B5"/>
                </a:solidFill>
              </a:rPr>
              <a:t>مرشد في فرنسا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291" y="4000500"/>
            <a:ext cx="1123921" cy="342900"/>
          </a:xfrm>
          <a:prstGeom prst="roundRect">
            <a:avLst>
              <a:gd name="adj" fmla="val 83333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3291" y="4000500"/>
            <a:ext cx="112392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F51B5"/>
                </a:solidFill>
              </a:rPr>
              <a:t>مرشد في ألمانيا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62300" y="4381499"/>
            <a:ext cx="1009624" cy="342900"/>
          </a:xfrm>
          <a:prstGeom prst="roundRect">
            <a:avLst>
              <a:gd name="adj" fmla="val 83333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62300" y="4381499"/>
            <a:ext cx="1009624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F51B5"/>
                </a:solidFill>
              </a:rPr>
              <a:t>مرشد في كندا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237E">
                <a:alpha val="90000"/>
              </a:srgbClr>
            </a:gs>
            <a:gs pos="100000">
              <a:srgbClr val="3F51B5">
                <a:alpha val="85000"/>
              </a:srgbClr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38719" y="571500"/>
            <a:ext cx="5286242" cy="714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950"/>
              </a:spcAft>
            </a:pPr>
            <a:r>
              <a:rPr sz="2392" b="1">
                <a:solidFill>
                  <a:srgbClr val="FFFFFF"/>
                </a:solidFill>
              </a:rPr>
              <a:t>المشكلة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38719" y="1571625"/>
            <a:ext cx="5286242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2600"/>
              </a:spcAft>
            </a:pPr>
            <a:r>
              <a:rPr sz="1315" b="0">
                <a:solidFill>
                  <a:srgbClr val="FFFFFF"/>
                </a:solidFill>
              </a:rPr>
              <a:t>التحديات التي يواجهها الطلاب في رحلتهم التعليمية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38719" y="2295525"/>
            <a:ext cx="5286242" cy="1171575"/>
          </a:xfrm>
          <a:prstGeom prst="roundRect">
            <a:avLst>
              <a:gd name="adj" fmla="val 19512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62980" y="2590799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896327" y="2749061"/>
            <a:ext cx="304792" cy="2549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29214" y="2486025"/>
            <a:ext cx="4143271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435" b="1">
                <a:solidFill>
                  <a:srgbClr val="FFFFFF"/>
                </a:solidFill>
              </a:rPr>
              <a:t>الإفراط في المعلومات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29214" y="2962274"/>
            <a:ext cx="4143271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ضوضاء وسائل التواصل الاجتماعي وعدم موثوقية المصادر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8719" y="3705224"/>
            <a:ext cx="5286242" cy="1171575"/>
          </a:xfrm>
          <a:prstGeom prst="roundRect">
            <a:avLst>
              <a:gd name="adj" fmla="val 19512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762980" y="4000500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896327" y="4157296"/>
            <a:ext cx="304792" cy="25790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29214" y="3895724"/>
            <a:ext cx="4143271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435" b="1">
                <a:solidFill>
                  <a:srgbClr val="FFFFFF"/>
                </a:solidFill>
              </a:rPr>
              <a:t>نقص الإرشاد المخصص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9214" y="4371975"/>
            <a:ext cx="4143271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صعوبة الحصول على نصائح شخصية ومناسبة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8719" y="5114925"/>
            <a:ext cx="5286242" cy="1171575"/>
          </a:xfrm>
          <a:prstGeom prst="roundRect">
            <a:avLst>
              <a:gd name="adj" fmla="val 19512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762980" y="5410199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896327" y="5566996"/>
            <a:ext cx="304792" cy="25790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29214" y="5305425"/>
            <a:ext cx="4143271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435" b="1">
                <a:solidFill>
                  <a:srgbClr val="FFFFFF"/>
                </a:solidFill>
              </a:rPr>
              <a:t>تعقيد إجراءات الدراسة بالخارج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9214" y="5781674"/>
            <a:ext cx="4143271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صعوبات في التأشيرات والوثائق والإجراءات الإدارية</a:t>
            </a:r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162020" y="1285875"/>
            <a:ext cx="4286142" cy="42862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019249" y="2143125"/>
            <a:ext cx="171445" cy="714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9944" y="1924049"/>
            <a:ext cx="171445" cy="714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09704" y="3790949"/>
            <a:ext cx="171445" cy="714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9489" y="4000500"/>
            <a:ext cx="171445" cy="714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14617" y="17145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3390815" y="1807845"/>
            <a:ext cx="228594" cy="194309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4648083" y="3000375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4724281" y="3128009"/>
            <a:ext cx="228594" cy="125729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2876478" y="4552949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2952676" y="4654867"/>
            <a:ext cx="228594" cy="177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237E">
                <a:alpha val="90000"/>
              </a:srgbClr>
            </a:gs>
            <a:gs pos="100000">
              <a:srgbClr val="3F51B5">
                <a:alpha val="85000"/>
              </a:srgbClr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38719" y="571500"/>
            <a:ext cx="5286242" cy="714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950"/>
              </a:spcAft>
            </a:pPr>
            <a:r>
              <a:rPr sz="2392" b="1">
                <a:solidFill>
                  <a:srgbClr val="FFFFFF"/>
                </a:solidFill>
              </a:rPr>
              <a:t>الحل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38719" y="1571625"/>
            <a:ext cx="5286242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2600"/>
              </a:spcAft>
            </a:pPr>
            <a:r>
              <a:rPr sz="1315" b="0">
                <a:solidFill>
                  <a:srgbClr val="FFFFFF"/>
                </a:solidFill>
              </a:rPr>
              <a:t>كيف نحل مشاكل الطلاب من خلال TawjihApp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38719" y="2295525"/>
            <a:ext cx="5286242" cy="1171575"/>
          </a:xfrm>
          <a:prstGeom prst="roundRect">
            <a:avLst>
              <a:gd name="adj" fmla="val 19512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62980" y="2590799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896327" y="2794488"/>
            <a:ext cx="304792" cy="1641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29214" y="2486025"/>
            <a:ext cx="4143271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435" b="1">
                <a:solidFill>
                  <a:srgbClr val="FFFFFF"/>
                </a:solidFill>
              </a:rPr>
              <a:t>محادثات الفيديو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29214" y="2962274"/>
            <a:ext cx="4143271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مكالمات فردية مع طلاب حقيقيين وخبراء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8719" y="3705224"/>
            <a:ext cx="5286242" cy="1171575"/>
          </a:xfrm>
          <a:prstGeom prst="roundRect">
            <a:avLst>
              <a:gd name="adj" fmla="val 19512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762980" y="4000500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896327" y="4169019"/>
            <a:ext cx="304792" cy="23446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29214" y="3895724"/>
            <a:ext cx="4143271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435" b="1">
                <a:solidFill>
                  <a:srgbClr val="FFFFFF"/>
                </a:solidFill>
              </a:rPr>
              <a:t>السوق الإلكتروني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9214" y="4371975"/>
            <a:ext cx="4143271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حجز خدمات محددة (مراجعة السيرة الذاتية، التحضير للمقابلة)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8719" y="5114925"/>
            <a:ext cx="5286242" cy="1171575"/>
          </a:xfrm>
          <a:prstGeom prst="roundRect">
            <a:avLst>
              <a:gd name="adj" fmla="val 19512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762980" y="5410199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896327" y="5577253"/>
            <a:ext cx="304792" cy="23739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29214" y="5305425"/>
            <a:ext cx="4143271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435" b="1">
                <a:solidFill>
                  <a:srgbClr val="FFFFFF"/>
                </a:solidFill>
              </a:rPr>
              <a:t>الشراكات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9214" y="5781674"/>
            <a:ext cx="4143271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رابط مباشر مع وكالات الدراسة بالخارج</a:t>
            </a:r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162020" y="1285875"/>
            <a:ext cx="4286142" cy="428625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4362340" y="1714500"/>
            <a:ext cx="666733" cy="666750"/>
          </a:xfrm>
          <a:prstGeom prst="roundRect">
            <a:avLst>
              <a:gd name="adj" fmla="val 50000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514737" y="1956237"/>
            <a:ext cx="342891" cy="183274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1600159" y="4267199"/>
            <a:ext cx="666733" cy="666750"/>
          </a:xfrm>
          <a:prstGeom prst="roundRect">
            <a:avLst>
              <a:gd name="adj" fmla="val 50000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752556" y="4458028"/>
            <a:ext cx="342891" cy="266043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3924201" y="4048124"/>
            <a:ext cx="666733" cy="666750"/>
          </a:xfrm>
          <a:prstGeom prst="roundRect">
            <a:avLst>
              <a:gd name="adj" fmla="val 50000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4095647" y="4248478"/>
            <a:ext cx="342891" cy="2660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237E">
                <a:alpha val="90000"/>
              </a:srgbClr>
            </a:gs>
            <a:gs pos="100000">
              <a:srgbClr val="3F51B5">
                <a:alpha val="85000"/>
              </a:srgbClr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38719" y="476249"/>
            <a:ext cx="5286242" cy="714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950"/>
              </a:spcAft>
            </a:pPr>
            <a:r>
              <a:rPr sz="2392" b="1">
                <a:solidFill>
                  <a:srgbClr val="FFFFFF"/>
                </a:solidFill>
              </a:rPr>
              <a:t>التأثير الاجتماعي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38719" y="1476375"/>
            <a:ext cx="5286242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2600"/>
              </a:spcAft>
            </a:pPr>
            <a:r>
              <a:rPr sz="1315" b="0">
                <a:solidFill>
                  <a:srgbClr val="FFFFFF"/>
                </a:solidFill>
              </a:rPr>
              <a:t>كيف يساهم TawjihApp في بناء مستقبل أفضل للطلاب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38719" y="2190749"/>
            <a:ext cx="5286242" cy="1485900"/>
          </a:xfrm>
          <a:prstGeom prst="roundRect">
            <a:avLst>
              <a:gd name="adj" fmla="val 15384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62980" y="2647949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896327" y="2810607"/>
            <a:ext cx="304792" cy="2461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29214" y="2381250"/>
            <a:ext cx="4143271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435" b="1">
                <a:solidFill>
                  <a:srgbClr val="FFFFFF"/>
                </a:solidFill>
              </a:rPr>
              <a:t>تكافؤ الفرص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29214" y="2857500"/>
            <a:ext cx="4143271" cy="6286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توفير الوصول إلى المعلومات للمناطق النائية والجميع على قدم المساواة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8719" y="3914775"/>
            <a:ext cx="5286242" cy="1171575"/>
          </a:xfrm>
          <a:prstGeom prst="roundRect">
            <a:avLst>
              <a:gd name="adj" fmla="val 19512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762980" y="4219575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896327" y="4423263"/>
            <a:ext cx="304792" cy="16412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29214" y="4105274"/>
            <a:ext cx="4143271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435" b="1">
                <a:solidFill>
                  <a:srgbClr val="FFFFFF"/>
                </a:solidFill>
              </a:rPr>
              <a:t>تقليل معدلات التسرب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9214" y="4581524"/>
            <a:ext cx="4143271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تقليل حالات ترك الجامعة بسبب الاختيارات الخاطئة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8719" y="5324474"/>
            <a:ext cx="5286242" cy="1171575"/>
          </a:xfrm>
          <a:prstGeom prst="roundRect">
            <a:avLst>
              <a:gd name="adj" fmla="val 19512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762980" y="5629275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896327" y="5806586"/>
            <a:ext cx="304792" cy="21687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29214" y="5514975"/>
            <a:ext cx="4143271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435" b="1">
                <a:solidFill>
                  <a:srgbClr val="FFFFFF"/>
                </a:solidFill>
              </a:rPr>
              <a:t>تمكين الشباب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9214" y="5991225"/>
            <a:ext cx="4143271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بناء جيل من الطلاب الواثقين والمستعدين للتحديات</a:t>
            </a:r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162020" y="1343025"/>
            <a:ext cx="4286142" cy="428625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1162020" y="1343025"/>
            <a:ext cx="4286142" cy="4286250"/>
          </a:xfrm>
          <a:prstGeom prst="rect">
            <a:avLst/>
          </a:prstGeom>
          <a:gradFill rotWithShape="1">
            <a:gsLst>
              <a:gs pos="0">
                <a:srgbClr val="1A237E">
                  <a:alpha val="50000"/>
                </a:srgbClr>
              </a:gs>
              <a:gs pos="100000">
                <a:srgbClr val="3F51B5">
                  <a:alpha val="30000"/>
                </a:srgbClr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14717" y="3248024"/>
            <a:ext cx="857228" cy="590549"/>
          </a:xfrm>
          <a:prstGeom prst="roundRect">
            <a:avLst>
              <a:gd name="adj" fmla="val 96774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14717" y="3248024"/>
            <a:ext cx="857228" cy="5905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3F51B5"/>
                </a:solidFill>
              </a:rPr>
              <a:t>+75%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47763" y="3981449"/>
            <a:ext cx="3714657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زيادة فرص القبول في الجامعات المناسبة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291" y="4295774"/>
            <a:ext cx="828654" cy="590549"/>
          </a:xfrm>
          <a:prstGeom prst="roundRect">
            <a:avLst>
              <a:gd name="adj" fmla="val 96774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291" y="4295774"/>
            <a:ext cx="828654" cy="5905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3F51B5"/>
                </a:solidFill>
              </a:rPr>
              <a:t>-40%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47763" y="5029200"/>
            <a:ext cx="3714657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انخفاض حالات تغيير التخصصات الجامعية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237E">
                <a:alpha val="90000"/>
              </a:srgbClr>
            </a:gs>
            <a:gs pos="100000">
              <a:srgbClr val="3F51B5">
                <a:alpha val="85000"/>
              </a:srgbClr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476249"/>
            <a:ext cx="10858228" cy="714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950"/>
              </a:spcAft>
            </a:pPr>
            <a:r>
              <a:rPr sz="2392" b="1">
                <a:solidFill>
                  <a:srgbClr val="FFFFFF"/>
                </a:solidFill>
              </a:rPr>
              <a:t>الفئة المستهدفة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33" y="1476375"/>
            <a:ext cx="10858228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2600"/>
              </a:spcAft>
            </a:pPr>
            <a:r>
              <a:rPr sz="1315" b="0">
                <a:solidFill>
                  <a:srgbClr val="FFFFFF"/>
                </a:solidFill>
              </a:rPr>
              <a:t>مجموعات المستخدمين الرئيسية لمنصة TawjihApp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96047" y="2190749"/>
            <a:ext cx="3428914" cy="4791075"/>
          </a:xfrm>
          <a:prstGeom prst="roundRect">
            <a:avLst>
              <a:gd name="adj" fmla="val 11111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34266" y="2476499"/>
            <a:ext cx="952476" cy="952499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572385" y="2768881"/>
            <a:ext cx="476238" cy="3677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410464" y="3667124"/>
            <a:ext cx="800079" cy="4952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FFFFFF"/>
                </a:solidFill>
              </a:rPr>
              <a:t>الطلاب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77078" y="4305300"/>
            <a:ext cx="1866853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1300"/>
              </a:spcAft>
            </a:pPr>
            <a:r>
              <a:rPr sz="1196" b="0">
                <a:solidFill>
                  <a:srgbClr val="FFFFFF"/>
                </a:solidFill>
              </a:rPr>
              <a:t>طلاب الثانوية والجامعات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81790" y="4781549"/>
            <a:ext cx="2857428" cy="542925"/>
          </a:xfrm>
          <a:prstGeom prst="roundRect">
            <a:avLst>
              <a:gd name="adj" fmla="val 3508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905852" y="4982135"/>
            <a:ext cx="190495" cy="1512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19949" y="4895849"/>
            <a:ext cx="1790655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يبحثون عن توجيه أكاديمي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81790" y="5419725"/>
            <a:ext cx="2857428" cy="542925"/>
          </a:xfrm>
          <a:prstGeom prst="roundRect">
            <a:avLst>
              <a:gd name="adj" fmla="val 3508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905852" y="5621711"/>
            <a:ext cx="190495" cy="14847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124721" y="5534025"/>
            <a:ext cx="1685882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مهتمون بالدراسة بالخارج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1790" y="6057900"/>
            <a:ext cx="2857428" cy="542925"/>
          </a:xfrm>
          <a:prstGeom prst="roundRect">
            <a:avLst>
              <a:gd name="adj" fmla="val 3508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0905852" y="6244477"/>
            <a:ext cx="190495" cy="17929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886602" y="6172200"/>
            <a:ext cx="1924001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مستخدمون للهواتف الذكية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1390" y="2190749"/>
            <a:ext cx="3428914" cy="4791075"/>
          </a:xfrm>
          <a:prstGeom prst="roundRect">
            <a:avLst>
              <a:gd name="adj" fmla="val 11111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19609" y="2476499"/>
            <a:ext cx="952476" cy="952499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857728" y="2750795"/>
            <a:ext cx="476238" cy="4039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667233" y="3667124"/>
            <a:ext cx="866753" cy="4952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FFFFFF"/>
                </a:solidFill>
              </a:rPr>
              <a:t>الأولياء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6698" y="4305300"/>
            <a:ext cx="203829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1300"/>
              </a:spcAft>
            </a:pPr>
            <a:r>
              <a:rPr sz="1196" b="0">
                <a:solidFill>
                  <a:srgbClr val="FFFFFF"/>
                </a:solidFill>
              </a:rPr>
              <a:t>الداعمون الماليون لأبنائهم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67133" y="4781549"/>
            <a:ext cx="2857428" cy="542925"/>
          </a:xfrm>
          <a:prstGeom prst="roundRect">
            <a:avLst>
              <a:gd name="adj" fmla="val 3508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7191195" y="4968127"/>
            <a:ext cx="190495" cy="17929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286242" y="4895849"/>
            <a:ext cx="1809704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يبحثون عن ضمانات التعليم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7133" y="5419725"/>
            <a:ext cx="2857428" cy="542925"/>
          </a:xfrm>
          <a:prstGeom prst="roundRect">
            <a:avLst>
              <a:gd name="adj" fmla="val 3508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7191195" y="5617508"/>
            <a:ext cx="190495" cy="15688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962400" y="5534025"/>
            <a:ext cx="2133546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مستعدون للاستثمار في التعليم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67133" y="6057900"/>
            <a:ext cx="2857428" cy="542925"/>
          </a:xfrm>
          <a:prstGeom prst="roundRect">
            <a:avLst>
              <a:gd name="adj" fmla="val 3508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7191195" y="6258485"/>
            <a:ext cx="190495" cy="15127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010024" y="6172200"/>
            <a:ext cx="2085922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يحتاجون دعم في اتخاذ القرارات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6733" y="2190749"/>
            <a:ext cx="3428914" cy="4791075"/>
          </a:xfrm>
          <a:prstGeom prst="roundRect">
            <a:avLst>
              <a:gd name="adj" fmla="val 11111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904952" y="2476499"/>
            <a:ext cx="952476" cy="952499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2143071" y="2777924"/>
            <a:ext cx="476238" cy="349651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790655" y="3667124"/>
            <a:ext cx="1181070" cy="4952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FFFFFF"/>
                </a:solidFill>
              </a:rPr>
              <a:t>المرشدون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42991" y="4305300"/>
            <a:ext cx="2066873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1300"/>
              </a:spcAft>
            </a:pPr>
            <a:r>
              <a:rPr sz="1196" b="0">
                <a:solidFill>
                  <a:srgbClr val="FFFFFF"/>
                </a:solidFill>
              </a:rPr>
              <a:t>الطلاب المتفوقون والخبراء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52476" y="4781549"/>
            <a:ext cx="2857428" cy="542925"/>
          </a:xfrm>
          <a:prstGeom prst="roundRect">
            <a:avLst>
              <a:gd name="adj" fmla="val 3508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3476538" y="4987738"/>
            <a:ext cx="190495" cy="140073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400139" y="4895849"/>
            <a:ext cx="1981150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يبحثون عن مصدر دخل إضافي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52476" y="5419725"/>
            <a:ext cx="2857428" cy="542925"/>
          </a:xfrm>
          <a:prstGeom prst="roundRect">
            <a:avLst>
              <a:gd name="adj" fmla="val 3508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3476538" y="5620310"/>
            <a:ext cx="190495" cy="151279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504912" y="5534025"/>
            <a:ext cx="1876378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يرغبون في مساعدة الآخرين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52476" y="6057900"/>
            <a:ext cx="2857428" cy="542925"/>
          </a:xfrm>
          <a:prstGeom prst="roundRect">
            <a:avLst>
              <a:gd name="adj" fmla="val 3508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3476538" y="6280897"/>
            <a:ext cx="190495" cy="106455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771605" y="6172200"/>
            <a:ext cx="1609684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مهتمون بتطوير خبراتهم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237E">
                <a:alpha val="90000"/>
              </a:srgbClr>
            </a:gs>
            <a:gs pos="100000">
              <a:srgbClr val="3F51B5">
                <a:alpha val="85000"/>
              </a:srgbClr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476249"/>
            <a:ext cx="10858228" cy="714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950"/>
              </a:spcAft>
            </a:pPr>
            <a:r>
              <a:rPr sz="2392" b="1">
                <a:solidFill>
                  <a:srgbClr val="FFFFFF"/>
                </a:solidFill>
              </a:rPr>
              <a:t>خطة التنفيذ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33" y="1476375"/>
            <a:ext cx="10858228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2600"/>
              </a:spcAft>
            </a:pPr>
            <a:r>
              <a:rPr sz="1315" b="0">
                <a:solidFill>
                  <a:srgbClr val="FFFFFF"/>
                </a:solidFill>
              </a:rPr>
              <a:t>المراحل الأربع لتطوير TawjihApp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91375" y="2190749"/>
            <a:ext cx="2533586" cy="5572125"/>
          </a:xfrm>
          <a:prstGeom prst="roundRect">
            <a:avLst>
              <a:gd name="adj" fmla="val 15037"/>
            </a:avLst>
          </a:prstGeom>
          <a:solidFill>
            <a:srgbClr val="FFFFFF">
              <a:alpha val="15000"/>
            </a:srgbClr>
          </a:solidFill>
          <a:ln w="41275">
            <a:solidFill>
              <a:srgbClr val="798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7773" y="2381250"/>
            <a:ext cx="314317" cy="10667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588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72485" y="2524125"/>
            <a:ext cx="666733" cy="66675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734406" y="2765862"/>
            <a:ext cx="342891" cy="18327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277118" y="3429000"/>
            <a:ext cx="1962100" cy="8572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FFFFFF"/>
                </a:solidFill>
              </a:rPr>
              <a:t>تطوير النموذج الأولي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77118" y="4429125"/>
            <a:ext cx="1962100" cy="5143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1300"/>
              </a:spcAft>
            </a:pPr>
            <a:r>
              <a:rPr sz="1076" b="0">
                <a:solidFill>
                  <a:srgbClr val="FFFFFF"/>
                </a:solidFill>
              </a:rPr>
              <a:t>بناء المنتج القابل للتطبيق بأقل ميزات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1048723" y="6271932"/>
            <a:ext cx="190495" cy="1624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353316" y="6191250"/>
            <a:ext cx="1600159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تطوير واجهة المستخدم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1048723" y="6700557"/>
            <a:ext cx="190495" cy="16248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286642" y="6619875"/>
            <a:ext cx="1666833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نظام الفيديو والمحادثات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1048723" y="7129182"/>
            <a:ext cx="190495" cy="16248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391415" y="7048500"/>
            <a:ext cx="1562060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قاعدة بيانات المرشدين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144" y="2190749"/>
            <a:ext cx="2533586" cy="5572125"/>
          </a:xfrm>
          <a:prstGeom prst="roundRect">
            <a:avLst>
              <a:gd name="adj" fmla="val 15037"/>
            </a:avLst>
          </a:prstGeom>
          <a:solidFill>
            <a:srgbClr val="FFFFFF">
              <a:alpha val="15000"/>
            </a:srgbClr>
          </a:solidFill>
          <a:ln w="41275">
            <a:solidFill>
              <a:srgbClr val="9FA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6542" y="2381250"/>
            <a:ext cx="314317" cy="10667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588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00779" y="2524125"/>
            <a:ext cx="666733" cy="66675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962700" y="2724478"/>
            <a:ext cx="342891" cy="26604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95887" y="3429000"/>
            <a:ext cx="1962100" cy="8572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FFFFFF"/>
                </a:solidFill>
              </a:rPr>
              <a:t>شراكات مع اتحادات الطلاب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5887" y="4429125"/>
            <a:ext cx="1962100" cy="5143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1300"/>
              </a:spcAft>
            </a:pPr>
            <a:r>
              <a:rPr sz="1076" b="0">
                <a:solidFill>
                  <a:srgbClr val="FFFFFF"/>
                </a:solidFill>
              </a:rPr>
              <a:t>بناء شبكة من المرشدين الموثوقين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277018" y="6110007"/>
            <a:ext cx="190495" cy="16248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495887" y="5876925"/>
            <a:ext cx="1676358" cy="6286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التواصل مع اتحادات الطلاب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277018" y="6700557"/>
            <a:ext cx="190495" cy="16248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600659" y="6619875"/>
            <a:ext cx="1581110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تدريب المرشدين الأوائل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277018" y="7129182"/>
            <a:ext cx="190495" cy="16248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734006" y="7048500"/>
            <a:ext cx="1447763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تطوير محتوى التوجيه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38439" y="2190749"/>
            <a:ext cx="2533586" cy="5572125"/>
          </a:xfrm>
          <a:prstGeom prst="roundRect">
            <a:avLst>
              <a:gd name="adj" fmla="val 15037"/>
            </a:avLst>
          </a:prstGeom>
          <a:solidFill>
            <a:srgbClr val="FFFFFF">
              <a:alpha val="15000"/>
            </a:srgbClr>
          </a:solidFill>
          <a:ln w="41275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14837" y="2381250"/>
            <a:ext cx="314317" cy="10667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588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074" y="2524125"/>
            <a:ext cx="666733" cy="66675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181470" y="2714132"/>
            <a:ext cx="342891" cy="28673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724181" y="3429000"/>
            <a:ext cx="1962100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FFFFFF"/>
                </a:solidFill>
              </a:rPr>
              <a:t>الإطلاق والتسويق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24181" y="4000500"/>
            <a:ext cx="1962100" cy="5143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1300"/>
              </a:spcAft>
            </a:pPr>
            <a:r>
              <a:rPr sz="1076" b="0">
                <a:solidFill>
                  <a:srgbClr val="FFFFFF"/>
                </a:solidFill>
              </a:rPr>
              <a:t>الترويج للمنصة وجذب المستخدمين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505312" y="6110007"/>
            <a:ext cx="190495" cy="16248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3724181" y="5876925"/>
            <a:ext cx="1676358" cy="6286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حملات تسويقية مستهدفة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505312" y="6700557"/>
            <a:ext cx="190495" cy="16248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3790855" y="6619875"/>
            <a:ext cx="1619209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ورش عمل في المدارس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505312" y="7129182"/>
            <a:ext cx="190495" cy="162485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3743231" y="7048500"/>
            <a:ext cx="1666833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برامج إحالة للمستخدمين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66733" y="2190749"/>
            <a:ext cx="2533586" cy="5572125"/>
          </a:xfrm>
          <a:prstGeom prst="roundRect">
            <a:avLst>
              <a:gd name="adj" fmla="val 15037"/>
            </a:avLst>
          </a:prstGeom>
          <a:solidFill>
            <a:srgbClr val="FFFFFF">
              <a:alpha val="15000"/>
            </a:srgbClr>
          </a:solidFill>
          <a:ln w="41275">
            <a:solidFill>
              <a:srgbClr val="E8E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131" y="2381250"/>
            <a:ext cx="314317" cy="10667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588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247843" y="2524125"/>
            <a:ext cx="666733" cy="66675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2409764" y="2728912"/>
            <a:ext cx="342891" cy="257175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52476" y="3429000"/>
            <a:ext cx="1962100" cy="12858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FFFFFF"/>
                </a:solidFill>
              </a:rPr>
              <a:t>الشراكات مع وكالات الدراسة بالخارج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2476" y="4857750"/>
            <a:ext cx="1962100" cy="5143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1300"/>
              </a:spcAft>
            </a:pPr>
            <a:r>
              <a:rPr sz="1076" b="0">
                <a:solidFill>
                  <a:srgbClr val="FFFFFF"/>
                </a:solidFill>
              </a:rPr>
              <a:t>توسيع الخدمات للدراسة الدولية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2724081" y="5795682"/>
            <a:ext cx="190495" cy="162485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952476" y="5562600"/>
            <a:ext cx="1676358" cy="6286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التواصل مع الوكالات المعتمدة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2724081" y="6538632"/>
            <a:ext cx="190495" cy="162485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952476" y="6305550"/>
            <a:ext cx="1676358" cy="6286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تكامل الأنظمة والخدمات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2724081" y="7129182"/>
            <a:ext cx="190495" cy="162485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047723" y="7048500"/>
            <a:ext cx="1581110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تطوير محتوى متخصص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237E">
                <a:alpha val="90000"/>
              </a:srgbClr>
            </a:gs>
            <a:gs pos="100000">
              <a:srgbClr val="3F51B5">
                <a:alpha val="85000"/>
              </a:srgbClr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476249"/>
            <a:ext cx="10858228" cy="714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950"/>
              </a:spcAft>
            </a:pPr>
            <a:r>
              <a:rPr sz="2392" b="1">
                <a:solidFill>
                  <a:srgbClr val="FFFFFF"/>
                </a:solidFill>
              </a:rPr>
              <a:t>الموارد المطلوبة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33" y="1476375"/>
            <a:ext cx="10858228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2600"/>
              </a:spcAft>
            </a:pPr>
            <a:r>
              <a:rPr sz="1315" b="0">
                <a:solidFill>
                  <a:srgbClr val="FFFFFF"/>
                </a:solidFill>
              </a:rPr>
              <a:t>العناصر الأساسية لنجاح TawjihApp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96047" y="2190749"/>
            <a:ext cx="3428914" cy="4838699"/>
          </a:xfrm>
          <a:prstGeom prst="roundRect">
            <a:avLst>
              <a:gd name="adj" fmla="val 11111"/>
            </a:avLst>
          </a:prstGeom>
          <a:solidFill>
            <a:srgbClr val="FFFFFF">
              <a:alpha val="15000"/>
            </a:srgbClr>
          </a:solidFill>
          <a:ln w="41275">
            <a:solidFill>
              <a:srgbClr val="798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38919" y="2381250"/>
            <a:ext cx="533386" cy="380999"/>
          </a:xfrm>
          <a:prstGeom prst="roundRect">
            <a:avLst>
              <a:gd name="adj" fmla="val 100000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38919" y="2381250"/>
            <a:ext cx="533386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F51B5"/>
                </a:solidFill>
              </a:rPr>
              <a:t>عالي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34266" y="2524125"/>
            <a:ext cx="952476" cy="952499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572385" y="2834591"/>
            <a:ext cx="476238" cy="33156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10384" y="3714750"/>
            <a:ext cx="2400239" cy="4952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FFFFFF"/>
                </a:solidFill>
              </a:rPr>
              <a:t>البنية التحتية التقنية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2780" y="4352924"/>
            <a:ext cx="2095447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1300"/>
              </a:spcAft>
            </a:pPr>
            <a:r>
              <a:rPr sz="1196" b="0">
                <a:solidFill>
                  <a:srgbClr val="FFFFFF"/>
                </a:solidFill>
              </a:rPr>
              <a:t>المنصات السحابية والخوادم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81790" y="4829175"/>
            <a:ext cx="2857428" cy="542925"/>
          </a:xfrm>
          <a:prstGeom prst="roundRect">
            <a:avLst>
              <a:gd name="adj" fmla="val 3508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905852" y="5035363"/>
            <a:ext cx="190495" cy="1400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924701" y="4943475"/>
            <a:ext cx="1885902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خوادم سحابية قابلة للتوسع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81790" y="5467349"/>
            <a:ext cx="2857428" cy="542925"/>
          </a:xfrm>
          <a:prstGeom prst="roundRect">
            <a:avLst>
              <a:gd name="adj" fmla="val 3508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905852" y="5690347"/>
            <a:ext cx="190495" cy="10645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991375" y="5581649"/>
            <a:ext cx="1819229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خدمات الفيديو والمحادثات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81790" y="6105525"/>
            <a:ext cx="2857428" cy="542925"/>
          </a:xfrm>
          <a:prstGeom prst="roundRect">
            <a:avLst>
              <a:gd name="adj" fmla="val 3508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0905852" y="6292102"/>
            <a:ext cx="190495" cy="17929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029474" y="6219825"/>
            <a:ext cx="1781130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حماية البيانات والخصوصية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1390" y="2190749"/>
            <a:ext cx="3428914" cy="4838699"/>
          </a:xfrm>
          <a:prstGeom prst="roundRect">
            <a:avLst>
              <a:gd name="adj" fmla="val 11111"/>
            </a:avLst>
          </a:prstGeom>
          <a:solidFill>
            <a:srgbClr val="FFFFFF">
              <a:alpha val="15000"/>
            </a:srgbClr>
          </a:solidFill>
          <a:ln w="41275">
            <a:solidFill>
              <a:srgbClr val="9FA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24261" y="2381250"/>
            <a:ext cx="533386" cy="380999"/>
          </a:xfrm>
          <a:prstGeom prst="roundRect">
            <a:avLst>
              <a:gd name="adj" fmla="val 100000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4261" y="2381250"/>
            <a:ext cx="533386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F51B5"/>
                </a:solidFill>
              </a:rPr>
              <a:t>عالي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19609" y="2524125"/>
            <a:ext cx="952476" cy="952499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857728" y="2816506"/>
            <a:ext cx="476238" cy="36773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133846" y="3714750"/>
            <a:ext cx="1914477" cy="4952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FFFFFF"/>
                </a:solidFill>
              </a:rPr>
              <a:t>ميزانية التسويق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33846" y="4352924"/>
            <a:ext cx="1914477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1300"/>
              </a:spcAft>
            </a:pPr>
            <a:r>
              <a:rPr sz="1196" b="0">
                <a:solidFill>
                  <a:srgbClr val="FFFFFF"/>
                </a:solidFill>
              </a:rPr>
              <a:t>الإعلانات والترويج للمنصة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67133" y="4829175"/>
            <a:ext cx="2857428" cy="542925"/>
          </a:xfrm>
          <a:prstGeom prst="roundRect">
            <a:avLst>
              <a:gd name="adj" fmla="val 3508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7191195" y="5035363"/>
            <a:ext cx="190495" cy="140073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381490" y="4943475"/>
            <a:ext cx="1714457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حملات إعلانية مستهدفة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67133" y="5467349"/>
            <a:ext cx="2857428" cy="542925"/>
          </a:xfrm>
          <a:prstGeom prst="roundRect">
            <a:avLst>
              <a:gd name="adj" fmla="val 3508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7191195" y="5660931"/>
            <a:ext cx="190495" cy="16528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695807" y="5581649"/>
            <a:ext cx="1400139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فعاليات وورش عمل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667133" y="6105525"/>
            <a:ext cx="2857428" cy="542925"/>
          </a:xfrm>
          <a:prstGeom prst="roundRect">
            <a:avLst>
              <a:gd name="adj" fmla="val 3508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7191195" y="6328522"/>
            <a:ext cx="190495" cy="10645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562460" y="6219825"/>
            <a:ext cx="1533486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تحليل البيانات والقياس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6733" y="2190749"/>
            <a:ext cx="3428914" cy="4838699"/>
          </a:xfrm>
          <a:prstGeom prst="roundRect">
            <a:avLst>
              <a:gd name="adj" fmla="val 11111"/>
            </a:avLst>
          </a:prstGeom>
          <a:solidFill>
            <a:srgbClr val="FFFFFF">
              <a:alpha val="15000"/>
            </a:srgbClr>
          </a:solidFill>
          <a:ln w="41275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09604" y="2381250"/>
            <a:ext cx="752456" cy="380999"/>
          </a:xfrm>
          <a:prstGeom prst="roundRect">
            <a:avLst>
              <a:gd name="adj" fmla="val 100000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9604" y="2381250"/>
            <a:ext cx="752456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F51B5"/>
                </a:solidFill>
              </a:rPr>
              <a:t>متوسط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904952" y="2524125"/>
            <a:ext cx="952476" cy="952499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2143071" y="2816506"/>
            <a:ext cx="476238" cy="36773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95347" y="3714750"/>
            <a:ext cx="2571685" cy="4952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FFFFFF"/>
                </a:solidFill>
              </a:rPr>
              <a:t>الشراكات الاستراتيجية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5347" y="4352924"/>
            <a:ext cx="2581210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1300"/>
              </a:spcAft>
            </a:pPr>
            <a:r>
              <a:rPr sz="1196" b="0">
                <a:solidFill>
                  <a:srgbClr val="FFFFFF"/>
                </a:solidFill>
              </a:rPr>
              <a:t>التعاون مع المؤسسات ذات الصلة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52476" y="4829175"/>
            <a:ext cx="2857428" cy="542925"/>
          </a:xfrm>
          <a:prstGeom prst="roundRect">
            <a:avLst>
              <a:gd name="adj" fmla="val 3508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3476538" y="5029760"/>
            <a:ext cx="190495" cy="151279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2200219" y="4943475"/>
            <a:ext cx="1181070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جامعات ومدارس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52476" y="5467349"/>
            <a:ext cx="2857428" cy="542925"/>
          </a:xfrm>
          <a:prstGeom prst="roundRect">
            <a:avLst>
              <a:gd name="adj" fmla="val 3508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3476538" y="5669336"/>
            <a:ext cx="190495" cy="148477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847803" y="5581649"/>
            <a:ext cx="1533486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وكالات الدراسة بالخارج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52476" y="6105525"/>
            <a:ext cx="2857428" cy="542925"/>
          </a:xfrm>
          <a:prstGeom prst="roundRect">
            <a:avLst>
              <a:gd name="adj" fmla="val 3508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3476538" y="6306110"/>
            <a:ext cx="190495" cy="151279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704932" y="6219825"/>
            <a:ext cx="1676358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شركات تكنولوجيا التعليم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237E">
                <a:alpha val="90000"/>
              </a:srgbClr>
            </a:gs>
            <a:gs pos="100000">
              <a:srgbClr val="3F51B5">
                <a:alpha val="85000"/>
              </a:srgbClr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476249"/>
            <a:ext cx="10858228" cy="714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950"/>
              </a:spcAft>
            </a:pPr>
            <a:r>
              <a:rPr sz="2392" b="1">
                <a:solidFill>
                  <a:srgbClr val="FFFFFF"/>
                </a:solidFill>
              </a:rPr>
              <a:t>نموذج العمل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33" y="1476375"/>
            <a:ext cx="10858228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2600"/>
              </a:spcAft>
            </a:pPr>
            <a:r>
              <a:rPr sz="1315" b="0">
                <a:solidFill>
                  <a:srgbClr val="FFFFFF"/>
                </a:solidFill>
              </a:rPr>
              <a:t>مصادر الدخل الرئيسية لـ TawjihApp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96047" y="2190749"/>
            <a:ext cx="3428914" cy="5410199"/>
          </a:xfrm>
          <a:prstGeom prst="roundRect">
            <a:avLst>
              <a:gd name="adj" fmla="val 11111"/>
            </a:avLst>
          </a:prstGeom>
          <a:solidFill>
            <a:srgbClr val="FFFFFF">
              <a:alpha val="15000"/>
            </a:srgbClr>
          </a:solidFill>
          <a:ln w="41275">
            <a:solidFill>
              <a:srgbClr val="798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38919" y="2381250"/>
            <a:ext cx="485762" cy="380999"/>
          </a:xfrm>
          <a:prstGeom prst="roundRect">
            <a:avLst>
              <a:gd name="adj" fmla="val 100000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38919" y="2381250"/>
            <a:ext cx="485762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F51B5"/>
                </a:solidFill>
              </a:rPr>
              <a:t>20%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34266" y="2524125"/>
            <a:ext cx="952476" cy="952499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572385" y="2834591"/>
            <a:ext cx="476238" cy="33156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34266" y="3714750"/>
            <a:ext cx="942951" cy="4952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FFFFFF"/>
                </a:solidFill>
              </a:rPr>
              <a:t>العمولة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48503" y="4352924"/>
            <a:ext cx="1933526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1300"/>
              </a:spcAft>
            </a:pPr>
            <a:r>
              <a:rPr sz="1196" b="0">
                <a:solidFill>
                  <a:srgbClr val="FFFFFF"/>
                </a:solidFill>
              </a:rPr>
              <a:t>نسبة من كل جلسة فيديو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81790" y="4829175"/>
            <a:ext cx="2857428" cy="542925"/>
          </a:xfrm>
          <a:prstGeom prst="roundRect">
            <a:avLst>
              <a:gd name="adj" fmla="val 3508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905852" y="5052172"/>
            <a:ext cx="190495" cy="10645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00899" y="4943475"/>
            <a:ext cx="1809704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جلسات الاستشارات الفردية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81790" y="5467349"/>
            <a:ext cx="2857428" cy="542925"/>
          </a:xfrm>
          <a:prstGeom prst="roundRect">
            <a:avLst>
              <a:gd name="adj" fmla="val 3508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905852" y="5667935"/>
            <a:ext cx="190495" cy="15127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010424" y="5581649"/>
            <a:ext cx="1800179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خدمات التوجيه المتخصصة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81790" y="6105525"/>
            <a:ext cx="2857428" cy="542925"/>
          </a:xfrm>
          <a:prstGeom prst="roundRect">
            <a:avLst>
              <a:gd name="adj" fmla="val 3508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0905852" y="6311713"/>
            <a:ext cx="190495" cy="14007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667633" y="6219825"/>
            <a:ext cx="1142971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دفع آمن ومباشر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62760" y="6886575"/>
            <a:ext cx="2485962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975"/>
              </a:spcBef>
              <a:spcAft>
                <a:spcPts val="0"/>
              </a:spcAft>
            </a:pPr>
            <a:r>
              <a:rPr sz="1435" b="1">
                <a:solidFill>
                  <a:srgbClr val="E8EAF6"/>
                </a:solidFill>
              </a:rPr>
              <a:t>أكثر من 1000 جلسة/شهر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1390" y="2190749"/>
            <a:ext cx="3428914" cy="5410199"/>
          </a:xfrm>
          <a:prstGeom prst="roundRect">
            <a:avLst>
              <a:gd name="adj" fmla="val 11111"/>
            </a:avLst>
          </a:prstGeom>
          <a:solidFill>
            <a:srgbClr val="FFFFFF">
              <a:alpha val="15000"/>
            </a:srgbClr>
          </a:solidFill>
          <a:ln w="41275">
            <a:solidFill>
              <a:srgbClr val="9FA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24261" y="2381250"/>
            <a:ext cx="485762" cy="380999"/>
          </a:xfrm>
          <a:prstGeom prst="roundRect">
            <a:avLst>
              <a:gd name="adj" fmla="val 100000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4261" y="2381250"/>
            <a:ext cx="485762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F51B5"/>
                </a:solidFill>
              </a:rPr>
              <a:t>30€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19609" y="2524125"/>
            <a:ext cx="952476" cy="952499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857728" y="2834591"/>
            <a:ext cx="476238" cy="33156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695707" y="3714750"/>
            <a:ext cx="2800279" cy="4952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FFFFFF"/>
                </a:solidFill>
              </a:rPr>
              <a:t>توليد العملاء المحتملين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71925" y="4352924"/>
            <a:ext cx="223831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1300"/>
              </a:spcAft>
            </a:pPr>
            <a:r>
              <a:rPr sz="1196" b="0">
                <a:solidFill>
                  <a:srgbClr val="FFFFFF"/>
                </a:solidFill>
              </a:rPr>
              <a:t>رسوم من الوكالات لكل طالب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7133" y="4829175"/>
            <a:ext cx="2857428" cy="542925"/>
          </a:xfrm>
          <a:prstGeom prst="roundRect">
            <a:avLst>
              <a:gd name="adj" fmla="val 3508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7191195" y="5031161"/>
            <a:ext cx="190495" cy="14847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562460" y="4943475"/>
            <a:ext cx="1533486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وكالات الدراسة بالخارج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67133" y="5467349"/>
            <a:ext cx="2857428" cy="542925"/>
          </a:xfrm>
          <a:prstGeom prst="roundRect">
            <a:avLst>
              <a:gd name="adj" fmla="val 3508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7191195" y="5667935"/>
            <a:ext cx="190495" cy="15127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048223" y="5581649"/>
            <a:ext cx="1047723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جامعات شريكة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7133" y="6105525"/>
            <a:ext cx="2857428" cy="542925"/>
          </a:xfrm>
          <a:prstGeom prst="roundRect">
            <a:avLst>
              <a:gd name="adj" fmla="val 3508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7191195" y="6328522"/>
            <a:ext cx="190495" cy="10645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972025" y="6219825"/>
            <a:ext cx="1123921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نظام تتبع وتحليل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33866" y="6886575"/>
            <a:ext cx="1514437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975"/>
              </a:spcBef>
              <a:spcAft>
                <a:spcPts val="0"/>
              </a:spcAft>
            </a:pPr>
            <a:r>
              <a:rPr sz="1435" b="1">
                <a:solidFill>
                  <a:srgbClr val="E8EAF6"/>
                </a:solidFill>
              </a:rPr>
              <a:t>150 طالب/شهر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6733" y="2190749"/>
            <a:ext cx="3428914" cy="5410199"/>
          </a:xfrm>
          <a:prstGeom prst="roundRect">
            <a:avLst>
              <a:gd name="adj" fmla="val 11111"/>
            </a:avLst>
          </a:prstGeom>
          <a:solidFill>
            <a:srgbClr val="FFFFFF">
              <a:alpha val="15000"/>
            </a:srgbClr>
          </a:solidFill>
          <a:ln w="41275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09604" y="2381250"/>
            <a:ext cx="485762" cy="380999"/>
          </a:xfrm>
          <a:prstGeom prst="roundRect">
            <a:avLst>
              <a:gd name="adj" fmla="val 100000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9604" y="2381250"/>
            <a:ext cx="485762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F51B5"/>
                </a:solidFill>
              </a:rPr>
              <a:t>15€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904952" y="2524125"/>
            <a:ext cx="952476" cy="952499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2143071" y="2789378"/>
            <a:ext cx="476238" cy="421993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476338" y="3714750"/>
            <a:ext cx="1809704" cy="4952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FFFFFF"/>
                </a:solidFill>
              </a:rPr>
              <a:t>الميزات المميزة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85842" y="4352924"/>
            <a:ext cx="2190695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1300"/>
              </a:spcAft>
            </a:pPr>
            <a:r>
              <a:rPr sz="1196" b="0">
                <a:solidFill>
                  <a:srgbClr val="FFFFFF"/>
                </a:solidFill>
              </a:rPr>
              <a:t>دليل PDF واختبارات الشخصية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52476" y="4829175"/>
            <a:ext cx="2857428" cy="542925"/>
          </a:xfrm>
          <a:prstGeom prst="roundRect">
            <a:avLst>
              <a:gd name="adj" fmla="val 3508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3476538" y="5024157"/>
            <a:ext cx="190495" cy="162485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2152596" y="4943475"/>
            <a:ext cx="1228694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دليل جامعات PDF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52476" y="5467349"/>
            <a:ext cx="2857428" cy="542925"/>
          </a:xfrm>
          <a:prstGeom prst="roundRect">
            <a:avLst>
              <a:gd name="adj" fmla="val 3508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3476538" y="5667935"/>
            <a:ext cx="190495" cy="151279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952576" y="5581649"/>
            <a:ext cx="1428714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اختبارات تحديد المسار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52476" y="6105525"/>
            <a:ext cx="2857428" cy="542925"/>
          </a:xfrm>
          <a:prstGeom prst="roundRect">
            <a:avLst>
              <a:gd name="adj" fmla="val 3508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3476538" y="6300507"/>
            <a:ext cx="190495" cy="162485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685882" y="6219825"/>
            <a:ext cx="1695407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اشتراكات شهرية وسنوية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523961" y="6886575"/>
            <a:ext cx="1714457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975"/>
              </a:spcBef>
              <a:spcAft>
                <a:spcPts val="0"/>
              </a:spcAft>
            </a:pPr>
            <a:r>
              <a:rPr sz="1435" b="1">
                <a:solidFill>
                  <a:srgbClr val="E8EAF6"/>
                </a:solidFill>
              </a:rPr>
              <a:t>500 مشترك/شهر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237E">
                <a:alpha val="90000"/>
              </a:srgbClr>
            </a:gs>
            <a:gs pos="100000">
              <a:srgbClr val="3F51B5">
                <a:alpha val="85000"/>
              </a:srgbClr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05512" y="476249"/>
            <a:ext cx="4019449" cy="714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950"/>
              </a:spcAft>
            </a:pPr>
            <a:r>
              <a:rPr sz="2392" b="1">
                <a:solidFill>
                  <a:srgbClr val="FFFFFF"/>
                </a:solidFill>
              </a:rPr>
              <a:t>رؤيتنا وبيانات التواصل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505512" y="1476375"/>
            <a:ext cx="4019449" cy="1571625"/>
          </a:xfrm>
          <a:prstGeom prst="roundRect">
            <a:avLst>
              <a:gd name="adj" fmla="val 24242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48723" y="1571625"/>
            <a:ext cx="285742" cy="1428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784" b="0">
                <a:solidFill>
                  <a:srgbClr val="C5CAE9"/>
                </a:solidFill>
              </a:rPr>
              <a:t>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91255" y="1762125"/>
            <a:ext cx="3447963" cy="8572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975"/>
              </a:spcAft>
            </a:pPr>
            <a:r>
              <a:rPr sz="1913" b="1">
                <a:solidFill>
                  <a:srgbClr val="FFFFFF"/>
                </a:solidFill>
              </a:rPr>
              <a:t>نبني المستقبل، تلميذاً تلو الآخر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05512" y="3429000"/>
            <a:ext cx="4019449" cy="761999"/>
          </a:xfrm>
          <a:prstGeom prst="roundRect">
            <a:avLst>
              <a:gd name="adj" fmla="val 30000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58228" y="3571875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972525" y="3712091"/>
            <a:ext cx="247643" cy="1958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086622" y="3629025"/>
            <a:ext cx="1581110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+212 5XX-XXX-XXX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05512" y="4381499"/>
            <a:ext cx="4019449" cy="761999"/>
          </a:xfrm>
          <a:prstGeom prst="roundRect">
            <a:avLst>
              <a:gd name="adj" fmla="val 30000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858228" y="4524374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972525" y="4673230"/>
            <a:ext cx="247643" cy="17853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86622" y="4581524"/>
            <a:ext cx="1581110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info@tawjihapp.ma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05512" y="5334000"/>
            <a:ext cx="4019449" cy="761999"/>
          </a:xfrm>
          <a:prstGeom prst="roundRect">
            <a:avLst>
              <a:gd name="adj" fmla="val 30000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858228" y="5476875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972525" y="5608452"/>
            <a:ext cx="247643" cy="21309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115197" y="5534025"/>
            <a:ext cx="1552536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www.tawjihapp.ma</a:t>
            </a:r>
          </a:p>
        </p:txBody>
      </p:sp>
      <p:pic>
        <p:nvPicPr>
          <p:cNvPr id="18" name="Picture 17" descr="image.jp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3771805" y="1143000"/>
            <a:ext cx="3447963" cy="428625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3771805" y="1143000"/>
            <a:ext cx="3447963" cy="4286250"/>
          </a:xfrm>
          <a:prstGeom prst="rect">
            <a:avLst/>
          </a:prstGeom>
          <a:gradFill rotWithShape="1">
            <a:gsLst>
              <a:gs pos="0">
                <a:srgbClr val="1A237E">
                  <a:alpha val="50000"/>
                </a:srgbClr>
              </a:gs>
              <a:gs pos="100000">
                <a:srgbClr val="3F51B5">
                  <a:alpha val="30000"/>
                </a:srgbClr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057548" y="3381375"/>
            <a:ext cx="2876478" cy="1571625"/>
          </a:xfrm>
          <a:prstGeom prst="roundRect">
            <a:avLst>
              <a:gd name="adj" fmla="val 12121"/>
            </a:avLst>
          </a:prstGeom>
          <a:solidFill>
            <a:srgbClr val="1A237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57548" y="3381375"/>
            <a:ext cx="2876478" cy="15716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FFFFFF"/>
                </a:solidFill>
              </a:rPr>
              <a:t>تمكين الشباب المغربي من خلال التعليم والتوجيه المخصص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90715" y="2333624"/>
            <a:ext cx="1381090" cy="1714500"/>
          </a:xfrm>
          <a:prstGeom prst="roundRect">
            <a:avLst>
              <a:gd name="adj" fmla="val 2068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2609784" y="2829048"/>
            <a:ext cx="952476" cy="72365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66733" y="2971800"/>
            <a:ext cx="1723981" cy="6286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8EAF6"/>
                </a:solidFill>
              </a:rPr>
              <a:t>مسح للوصول إلى نسخة تجريبية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0" y="6858000"/>
            <a:ext cx="12191695" cy="4952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1950"/>
              </a:spcBef>
              <a:spcAft>
                <a:spcPts val="0"/>
              </a:spcAft>
            </a:pPr>
            <a:r>
              <a:rPr sz="1674" b="1">
                <a:solidFill>
                  <a:srgbClr val="E8EAF6"/>
                </a:solidFill>
              </a:rPr>
              <a:t>شكراً لاهتمامكم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