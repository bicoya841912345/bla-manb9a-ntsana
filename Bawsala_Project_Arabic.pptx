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2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TC Avant Garde Gothic" panose="020B0604020202020204" charset="0"/>
      <p:regular r:id="rId15"/>
    </p:embeddedFont>
    <p:embeddedFont>
      <p:font typeface="ITC Avant Garde Gothic Bold" panose="020B0604020202020204" charset="0"/>
      <p:regular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TT Fors" panose="020B0604020202020204" charset="0"/>
      <p:regular r:id="rId21"/>
    </p:embeddedFont>
    <p:embeddedFont>
      <p:font typeface="TT For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" Type="http://schemas.openxmlformats.org/officeDocument/2006/relationships/slide" Target="slides/slide1.xml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F8E8F-EF5D-4161-9FD0-B7E7FC7D1D38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A4844-C79D-42EF-8CF4-D19762364D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097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3A4844-C79D-42EF-8CF4-D19762364DE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98040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8.jpeg"/><Relationship Id="rId5" Type="http://schemas.openxmlformats.org/officeDocument/2006/relationships/image" Target="../media/image9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image" Target="../media/image16.jpeg"/><Relationship Id="rId5" Type="http://schemas.openxmlformats.org/officeDocument/2006/relationships/image" Target="../media/image17.jpe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2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68150" y="0"/>
            <a:ext cx="6419850" cy="10287000"/>
            <a:chOff x="0" y="0"/>
            <a:chExt cx="99460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4603" cy="1593725"/>
            </a:xfrm>
            <a:custGeom>
              <a:avLst/>
              <a:gdLst/>
              <a:ahLst/>
              <a:cxnLst/>
              <a:rect l="l" t="t" r="r" b="b"/>
              <a:pathLst>
                <a:path w="994603" h="1593725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b="-25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444829" y="7829550"/>
            <a:ext cx="4846643" cy="1791955"/>
            <a:chOff x="0" y="0"/>
            <a:chExt cx="6462190" cy="2389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0"/>
            <a:ext cx="13708378" cy="1365126"/>
          </a:xfrm>
          <a:custGeom>
            <a:avLst/>
            <a:gdLst/>
            <a:ahLst/>
            <a:cxnLst/>
            <a:rect l="l" t="t" r="r" b="b"/>
            <a:pathLst>
              <a:path w="13708378" h="1365126">
                <a:moveTo>
                  <a:pt x="0" y="0"/>
                </a:moveTo>
                <a:lnTo>
                  <a:pt x="13708378" y="0"/>
                </a:lnTo>
                <a:lnTo>
                  <a:pt x="13708378" y="1365126"/>
                </a:lnTo>
                <a:lnTo>
                  <a:pt x="0" y="13651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663474" y="2676966"/>
            <a:ext cx="5474382" cy="157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مشروع اجتماعي ناشئ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3474" y="4981575"/>
            <a:ext cx="9763125" cy="798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اسم المشروع: بوصلة (Bawsala) 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3474" y="9181465"/>
            <a:ext cx="7194651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إعداد: فريق بوصلة [Your Name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4857" y="1019175"/>
            <a:ext cx="13459629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مقدمة / تقديم </a:t>
            </a:r>
          </a:p>
          <a:p/>
        </p:txBody>
      </p:sp>
      <p:sp>
        <p:nvSpPr>
          <p:cNvPr id="3" name="TextBox 3"/>
          <p:cNvSpPr txBox="1"/>
          <p:nvPr/>
        </p:nvSpPr>
        <p:spPr>
          <a:xfrm>
            <a:off x="634857" y="4006215"/>
            <a:ext cx="16188415" cy="687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تقديم المشروع: منصة بوصلة هي منصة رقمية تربط التلاميذ والطلاب بموجهين أكاديميين ومهنيين لمساعدتهم على اختيار مسارهم الدراسي والمهني بثقة. توفر جلسات فيديو مباشرة ونظام تقييم شفاف.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815850" cy="106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1060718"/>
            </a:xfrm>
            <a:custGeom>
              <a:avLst/>
              <a:gdLst/>
              <a:ahLst/>
              <a:cxnLst/>
              <a:rect l="l" t="t" r="r" b="b"/>
              <a:pathLst>
                <a:path w="815850" h="1060718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59606"/>
            <a:ext cx="8324850" cy="5078254"/>
            <a:chOff x="0" y="-9525"/>
            <a:chExt cx="11099800" cy="6771005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1381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27496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Problem /</a:t>
              </a:r>
              <a:endParaRPr lang="ar-EG" sz="8000" u="none" strike="noStrike" spc="-240" dirty="0">
                <a:solidFill>
                  <a:srgbClr val="27496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rtl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Understanding the Issue / </a:t>
              </a:r>
              <a:r>
                <a:rPr lang="ar-EG" sz="3199" u="none" strike="noStrike" spc="-95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  <a:rtl/>
                </a:rPr>
                <a:t>فهم المشكلة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133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Many students face </a:t>
              </a:r>
              <a:r>
                <a:rPr lang="en-US" sz="2100" b="1">
                  <a:solidFill>
                    <a:srgbClr val="27496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significant barriers</a:t>
              </a: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 in accessing essential resources, leading to educational disparities and negative impacts on their learning experiences and future opportunities.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F441ACF-8F8F-1E42-F873-355D39E5D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0" y="264629"/>
            <a:ext cx="2962913" cy="19204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815850" cy="10607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5850" cy="1060718"/>
            </a:xfrm>
            <a:custGeom>
              <a:avLst/>
              <a:gdLst/>
              <a:ahLst/>
              <a:cxnLst/>
              <a:rect l="l" t="t" r="r" b="b"/>
              <a:pathLst>
                <a:path w="815850" h="1060718">
                  <a:moveTo>
                    <a:pt x="0" y="0"/>
                  </a:moveTo>
                  <a:lnTo>
                    <a:pt x="815850" y="0"/>
                  </a:lnTo>
                  <a:lnTo>
                    <a:pt x="815850" y="1060718"/>
                  </a:lnTo>
                  <a:lnTo>
                    <a:pt x="0" y="1060718"/>
                  </a:ln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59606"/>
            <a:ext cx="8324850" cy="5078254"/>
            <a:chOff x="0" y="-9525"/>
            <a:chExt cx="11099800" cy="6771005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2740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27496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Solution /</a:t>
              </a:r>
              <a:r>
                <a:rPr lang="ar-AE" sz="8000" spc="-240" dirty="0">
                  <a:solidFill>
                    <a:srgbClr val="27496D"/>
                  </a:solidFill>
                  <a:latin typeface="ITC Avant Garde Gothic"/>
                </a:rPr>
                <a:t>الحل المقترح</a:t>
              </a:r>
              <a:r>
                <a:rPr lang="en-GB" sz="8000" spc="-240" dirty="0">
                  <a:solidFill>
                    <a:srgbClr val="27496D"/>
                  </a:solidFill>
                  <a:latin typeface="ITC Avant Garde Gothic"/>
                </a:rPr>
                <a:t>	</a:t>
              </a:r>
              <a:endParaRPr lang="ar-EG" sz="8000" u="none" strike="noStrike" spc="-240" dirty="0">
                <a:solidFill>
                  <a:srgbClr val="27496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rtl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725"/>
              <a:ext cx="11099800" cy="714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39"/>
                </a:lnSpc>
                <a:spcBef>
                  <a:spcPct val="0"/>
                </a:spcBef>
              </a:pPr>
              <a:r>
                <a:rPr lang="en-US" sz="3199" u="none" strike="noStrike" spc="-95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Our Innovative Approach / </a:t>
              </a:r>
              <a:r>
                <a:rPr lang="ar-EG" sz="3199" u="none" strike="noStrike" spc="-95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  <a:rtl/>
                </a:rPr>
                <a:t>نهجنا المبتكر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813300"/>
              <a:ext cx="9182100" cy="1948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Our project offers a unique solution to connect students, teachers, and parents, enhancing communication and collaboration for better educational outcomes within our community.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5064919"/>
            <a:ext cx="4010025" cy="3978116"/>
            <a:chOff x="0" y="-104775"/>
            <a:chExt cx="5346700" cy="5304155"/>
          </a:xfrm>
        </p:grpSpPr>
        <p:sp>
          <p:nvSpPr>
            <p:cNvPr id="3" name="TextBox 3"/>
            <p:cNvSpPr txBox="1"/>
            <p:nvPr/>
          </p:nvSpPr>
          <p:spPr>
            <a:xfrm>
              <a:off x="0" y="17653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Our project focuses on </a:t>
              </a:r>
              <a:r>
                <a:rPr lang="en-US" sz="2100" b="1">
                  <a:solidFill>
                    <a:srgbClr val="27496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empowering young people</a:t>
              </a: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 by providing them with the tools and resources needed to make a difference in their communities, fostering leadership and innovation.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5346700" cy="11984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27496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Empowering Youth /</a:t>
              </a:r>
              <a:r>
                <a:rPr lang="ar-SA" sz="2800" dirty="0"/>
                <a:t>تمكين الشباب</a:t>
              </a:r>
              <a:endParaRPr lang="ar-EG" sz="2600" u="none" strike="noStrike" spc="-78" dirty="0">
                <a:solidFill>
                  <a:srgbClr val="27496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rtl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5143500"/>
            <a:ext cx="4010025" cy="3899535"/>
            <a:chOff x="0" y="0"/>
            <a:chExt cx="5346700" cy="5199380"/>
          </a:xfrm>
        </p:grpSpPr>
        <p:sp>
          <p:nvSpPr>
            <p:cNvPr id="6" name="TextBox 6"/>
            <p:cNvSpPr txBox="1"/>
            <p:nvPr/>
          </p:nvSpPr>
          <p:spPr>
            <a:xfrm>
              <a:off x="0" y="1765300"/>
              <a:ext cx="5346700" cy="34340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We aim to </a:t>
              </a:r>
              <a:r>
                <a:rPr lang="en-US" sz="2100" b="1">
                  <a:solidFill>
                    <a:srgbClr val="27496D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engage the community</a:t>
              </a: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 actively by involving local stakeholders and encouraging participation, which helps build a sense of ownership and pride in the project’s outcomes.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5346700" cy="12359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 dirty="0">
                  <a:solidFill>
                    <a:srgbClr val="27496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Community Engagement / </a:t>
              </a:r>
              <a:r>
                <a:rPr lang="ar-SA" sz="2800" dirty="0"/>
                <a:t>مشاركة المجتمع</a:t>
              </a:r>
              <a:endParaRPr lang="ar-EG" sz="2600" u="none" strike="noStrike" spc="-78" dirty="0">
                <a:solidFill>
                  <a:srgbClr val="27496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rtl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66750" y="659606"/>
            <a:ext cx="14051245" cy="2169319"/>
            <a:chOff x="0" y="-9525"/>
            <a:chExt cx="18734994" cy="2892425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18734994" cy="1381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u="none" strike="noStrike" spc="-240" dirty="0">
                  <a:solidFill>
                    <a:srgbClr val="27496D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Social Impact / </a:t>
              </a:r>
              <a:r>
                <a:rPr lang="ar-AE" sz="8000" spc="-240" dirty="0">
                  <a:solidFill>
                    <a:srgbClr val="27496D"/>
                  </a:solidFill>
                  <a:latin typeface="ITC Avant Garde Gothic"/>
                </a:rPr>
                <a:t>الأثر الإجتماعي</a:t>
              </a:r>
              <a:endParaRPr lang="ar-EG" sz="8000" u="none" strike="noStrike" spc="-240" dirty="0">
                <a:solidFill>
                  <a:srgbClr val="27496D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rtl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235200"/>
              <a:ext cx="16839191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3839"/>
                </a:lnSpc>
              </a:pPr>
              <a:r>
                <a:rPr lang="en-US" sz="3199" u="none" strike="noStrike" spc="-95" dirty="0">
                  <a:solidFill>
                    <a:srgbClr val="1B3B5A"/>
                  </a:solidFill>
                  <a:latin typeface="TT Fors"/>
                  <a:ea typeface="TT Fors"/>
                  <a:cs typeface="TT Fors"/>
                  <a:sym typeface="TT Fors"/>
                </a:rPr>
                <a:t>Positive Changes We Create / </a:t>
              </a:r>
              <a:r>
                <a:rPr lang="ar-SA" sz="3200" dirty="0"/>
                <a:t>التغييرات الإيجابية التي نحدثها</a:t>
              </a:r>
              <a:endParaRPr lang="ar-EG" sz="3199" u="none" strike="noStrike" spc="-95" dirty="0">
                <a:solidFill>
                  <a:srgbClr val="1B3B5A"/>
                </a:solidFill>
                <a:latin typeface="TT Fors"/>
                <a:ea typeface="TT Fors"/>
                <a:cs typeface="TT Fors"/>
                <a:sym typeface="TT Fors"/>
                <a:rtl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868150" y="2495550"/>
            <a:ext cx="5699691" cy="3065051"/>
            <a:chOff x="0" y="0"/>
            <a:chExt cx="1869241" cy="10051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69241" cy="1005198"/>
            </a:xfrm>
            <a:custGeom>
              <a:avLst/>
              <a:gdLst/>
              <a:ahLst/>
              <a:cxnLst/>
              <a:rect l="l" t="t" r="r" b="b"/>
              <a:pathLst>
                <a:path w="1869241" h="1005198">
                  <a:moveTo>
                    <a:pt x="0" y="0"/>
                  </a:moveTo>
                  <a:lnTo>
                    <a:pt x="1869241" y="0"/>
                  </a:lnTo>
                  <a:lnTo>
                    <a:pt x="1869241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4"/>
              <a:stretch>
                <a:fillRect l="-140" r="-14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68150" y="6016406"/>
            <a:ext cx="5699691" cy="3065051"/>
            <a:chOff x="0" y="0"/>
            <a:chExt cx="1869241" cy="10051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69241" cy="1005198"/>
            </a:xfrm>
            <a:custGeom>
              <a:avLst/>
              <a:gdLst/>
              <a:ahLst/>
              <a:cxnLst/>
              <a:rect l="l" t="t" r="r" b="b"/>
              <a:pathLst>
                <a:path w="1869241" h="1005198">
                  <a:moveTo>
                    <a:pt x="0" y="0"/>
                  </a:moveTo>
                  <a:lnTo>
                    <a:pt x="1869241" y="0"/>
                  </a:lnTo>
                  <a:lnTo>
                    <a:pt x="1869241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5"/>
              <a:stretch>
                <a:fillRect l="-140" r="-14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2964" y="657225"/>
            <a:ext cx="8388636" cy="205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الفئة المستهدفة /الفئة المستهدفة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4010025" cy="2686050"/>
            <a:chOff x="0" y="0"/>
            <a:chExt cx="1047951" cy="7019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5355141"/>
            <a:ext cx="4010025" cy="2686050"/>
            <a:chOff x="0" y="0"/>
            <a:chExt cx="1047951" cy="701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3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611225" y="666750"/>
            <a:ext cx="4010025" cy="2686050"/>
            <a:chOff x="0" y="0"/>
            <a:chExt cx="1047951" cy="7019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4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11225" y="5355141"/>
            <a:ext cx="4010025" cy="2686050"/>
            <a:chOff x="0" y="0"/>
            <a:chExt cx="1047951" cy="7019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5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665034"/>
            <a:ext cx="4010025" cy="1266825"/>
            <a:chOff x="0" y="0"/>
            <a:chExt cx="5346700" cy="16891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31520"/>
              <a:ext cx="53467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Our project directly benefits students by providing resources.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Students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8353425"/>
            <a:ext cx="4010025" cy="1266825"/>
            <a:chOff x="0" y="0"/>
            <a:chExt cx="5346700" cy="16891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731520"/>
              <a:ext cx="53467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Educators gain tools to enhance their teaching effectiveness.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Teachers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11225" y="3665034"/>
            <a:ext cx="4010025" cy="1266825"/>
            <a:chOff x="0" y="0"/>
            <a:chExt cx="5346700" cy="16891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731520"/>
              <a:ext cx="53467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The initiative enables parents to stay informed about education.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Parents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8353425"/>
            <a:ext cx="4010025" cy="1266825"/>
            <a:chOff x="0" y="0"/>
            <a:chExt cx="5346700" cy="1689100"/>
          </a:xfrm>
        </p:grpSpPr>
        <p:sp>
          <p:nvSpPr>
            <p:cNvPr id="21" name="TextBox 21"/>
            <p:cNvSpPr txBox="1"/>
            <p:nvPr/>
          </p:nvSpPr>
          <p:spPr>
            <a:xfrm>
              <a:off x="0" y="731520"/>
              <a:ext cx="5346700" cy="9575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r>
                <a:rPr lang="en-US" sz="2100">
                  <a:solidFill>
                    <a:srgbClr val="27496D"/>
                  </a:solidFill>
                  <a:latin typeface="TT Fors"/>
                  <a:ea typeface="TT Fors"/>
                  <a:cs typeface="TT Fors"/>
                  <a:sym typeface="TT Fors"/>
                </a:rPr>
                <a:t>The project fosters an improved educational environment for all.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40"/>
                </a:lnSpc>
                <a:spcBef>
                  <a:spcPct val="0"/>
                </a:spcBef>
              </a:pPr>
              <a:r>
                <a:rPr lang="en-US" sz="2600" u="none" strike="noStrike" spc="-78">
                  <a:solidFill>
                    <a:srgbClr val="1B3B5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Schools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4998156"/>
            <a:ext cx="14907864" cy="0"/>
          </a:xfrm>
          <a:prstGeom prst="line">
            <a:avLst/>
          </a:prstGeom>
          <a:ln w="19050" cap="flat">
            <a:solidFill>
              <a:srgbClr val="27496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28600" y="4836231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7496D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543425" y="4836231"/>
            <a:ext cx="323850" cy="323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7496D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858250" y="4845756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7496D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66750" y="657225"/>
            <a:ext cx="14077950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خطة التنفيذ / خطة التنفيذ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8600" y="3724275"/>
            <a:ext cx="31813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المرحلة الأولى: التخطيط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8600" y="5722056"/>
            <a:ext cx="3181350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تخطيط المشروع الأولي وتنظيم الفريق لتحديد الأدوار والمسؤوليات بوضوح.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43425" y="3724275"/>
            <a:ext cx="31813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المرحلة الثانية: التجريب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43425" y="5722056"/>
            <a:ext cx="3181350" cy="147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إجراء تجارب أولية لتحسين العمليات وجمع الملاحظات لتطوير الأداء.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58250" y="3724275"/>
            <a:ext cx="318135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المرحلة الثالثة: الإطلاق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58250" y="5722056"/>
            <a:ext cx="3181350" cy="184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إطلاق رسمي للمشروع، والترويج للمبادرة لدى الفئة المستهدفة والمجتمع.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657225"/>
            <a:ext cx="8095422" cy="308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الموارد المطلوبة /الموارد المطلوبة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4010025" cy="2686052"/>
            <a:chOff x="0" y="0"/>
            <a:chExt cx="1047951" cy="7019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2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5355141"/>
            <a:ext cx="4010025" cy="2686050"/>
            <a:chOff x="0" y="0"/>
            <a:chExt cx="1047951" cy="7019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3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611225" y="666750"/>
            <a:ext cx="4010025" cy="2686050"/>
            <a:chOff x="0" y="0"/>
            <a:chExt cx="1047951" cy="7019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4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611225" y="5355141"/>
            <a:ext cx="4010025" cy="2686050"/>
            <a:chOff x="0" y="0"/>
            <a:chExt cx="1047951" cy="7019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7951" cy="701953"/>
            </a:xfrm>
            <a:custGeom>
              <a:avLst/>
              <a:gdLst/>
              <a:ahLst/>
              <a:cxnLst/>
              <a:rect l="l" t="t" r="r" b="b"/>
              <a:pathLst>
                <a:path w="1047951" h="701953">
                  <a:moveTo>
                    <a:pt x="0" y="0"/>
                  </a:moveTo>
                  <a:lnTo>
                    <a:pt x="1047951" y="0"/>
                  </a:lnTo>
                  <a:lnTo>
                    <a:pt x="1047951" y="701953"/>
                  </a:lnTo>
                  <a:lnTo>
                    <a:pt x="0" y="701953"/>
                  </a:lnTo>
                  <a:close/>
                </a:path>
              </a:pathLst>
            </a:custGeom>
            <a:blipFill>
              <a:blip r:embed="rId5"/>
              <a:stretch>
                <a:fillRect l="-174" r="-174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3586453"/>
            <a:ext cx="4010025" cy="1297047"/>
            <a:chOff x="0" y="-104775"/>
            <a:chExt cx="5346700" cy="172939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741045"/>
              <a:ext cx="5346700" cy="883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ar-AE" dirty="0"/>
                <a:t>الدعم من الأفراد ذوي الخبرة يساعد في توجيه </a:t>
              </a:r>
              <a:r>
                <a:rPr lang="ar-AE"/>
                <a:t>مشروعنا.</a:t>
              </a:r>
              <a:endParaRPr lang="en-US" dirty="0">
                <a:sym typeface="TT For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en-US">
                  <a:sym typeface="ITC Avant Garde Gothic"/>
                </a:rPr>
                <a:t>Team &amp; Mentors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8274844"/>
            <a:ext cx="4010025" cy="1283517"/>
            <a:chOff x="0" y="-104775"/>
            <a:chExt cx="5346700" cy="171135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741045"/>
              <a:ext cx="5346700" cy="8351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ar-AE" dirty="0"/>
                <a:t>نحن بحاجة </a:t>
              </a:r>
              <a:r>
                <a:rPr lang="ar-AE"/>
                <a:t>إلى موارد </a:t>
              </a:r>
              <a:r>
                <a:rPr lang="ar-AE" dirty="0"/>
                <a:t>مثل الإمدادات والتكنولوجيا </a:t>
              </a:r>
              <a:r>
                <a:rPr lang="ar-AE"/>
                <a:t>للنجاح.</a:t>
              </a:r>
              <a:endParaRPr lang="en-US" dirty="0">
                <a:sym typeface="TT For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en-US">
                  <a:sym typeface="ITC Avant Garde Gothic"/>
                </a:rPr>
                <a:t>Materials &amp; Tools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11225" y="3586453"/>
            <a:ext cx="4010025" cy="1283517"/>
            <a:chOff x="0" y="-104775"/>
            <a:chExt cx="5346700" cy="171135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741045"/>
              <a:ext cx="5346700" cy="407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ar-AE" dirty="0"/>
                <a:t>التمويل ضروري لتنفيذ مشروعنا </a:t>
              </a:r>
              <a:r>
                <a:rPr lang="ar-AE"/>
                <a:t>بفعالية.</a:t>
              </a:r>
              <a:endParaRPr lang="en-US" dirty="0">
                <a:sym typeface="TT For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en-US">
                  <a:sym typeface="ITC Avant Garde Gothic"/>
                </a:rPr>
                <a:t>Financial Support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11225" y="8274844"/>
            <a:ext cx="4010025" cy="1297047"/>
            <a:chOff x="0" y="-104775"/>
            <a:chExt cx="5346700" cy="1729396"/>
          </a:xfrm>
        </p:grpSpPr>
        <p:sp>
          <p:nvSpPr>
            <p:cNvPr id="21" name="TextBox 21"/>
            <p:cNvSpPr txBox="1"/>
            <p:nvPr/>
          </p:nvSpPr>
          <p:spPr>
            <a:xfrm>
              <a:off x="0" y="741045"/>
              <a:ext cx="5346700" cy="8351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ar-AE" dirty="0"/>
                <a:t>التعاون مع المنظمات المحلية يوسع تأثيرنا ومدى </a:t>
              </a:r>
              <a:r>
                <a:rPr lang="ar-AE"/>
                <a:t>وصولنا.</a:t>
              </a:r>
              <a:endParaRPr lang="en-US" dirty="0">
                <a:sym typeface="TT For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04775"/>
              <a:ext cx="5346700" cy="6263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2482"/>
                </a:lnSpc>
                <a:defRPr sz="2800" b="1">
                  <a:solidFill>
                    <a:srgbClr val="005BA1"/>
                  </a:solidFill>
                  <a:latin typeface="Roboto" panose="02000000000000000000" pitchFamily="2" charset="0"/>
                </a:defRPr>
              </a:lvl1pPr>
            </a:lstStyle>
            <a:p>
              <a:r>
                <a:rPr lang="en-US" dirty="0">
                  <a:sym typeface="ITC Avant Garde Gothic"/>
                </a:rPr>
                <a:t>Partnerships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6750" y="7750969"/>
            <a:ext cx="6886575" cy="43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 dirty="0">
                <a:solidFill>
                  <a:srgbClr val="1B3B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Lack of Resources /</a:t>
            </a:r>
            <a:r>
              <a:rPr lang="ar-SA" sz="2400" b="1" dirty="0"/>
              <a:t>• نقص التمويل المستمر</a:t>
            </a:r>
            <a:endParaRPr lang="en-GB" sz="2400" b="1" dirty="0"/>
          </a:p>
        </p:txBody>
      </p:sp>
      <p:sp>
        <p:nvSpPr>
          <p:cNvPr id="7" name="TextBox 7"/>
          <p:cNvSpPr txBox="1"/>
          <p:nvPr/>
        </p:nvSpPr>
        <p:spPr>
          <a:xfrm>
            <a:off x="9296400" y="7750969"/>
            <a:ext cx="6886575" cy="43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3640"/>
              </a:lnSpc>
              <a:spcBef>
                <a:spcPct val="0"/>
              </a:spcBef>
            </a:pPr>
            <a:r>
              <a:rPr lang="en-US" sz="2600" b="1" u="none" strike="noStrike" spc="-78" dirty="0">
                <a:solidFill>
                  <a:srgbClr val="1B3B5A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Community Engagement /</a:t>
            </a:r>
            <a:r>
              <a:rPr lang="ar-SA" sz="2800" b="1" dirty="0"/>
              <a:t>مشاركة المجتمع</a:t>
            </a:r>
            <a:endParaRPr lang="ar-EG" sz="2600" b="1" u="none" strike="noStrike" spc="-78" dirty="0">
              <a:solidFill>
                <a:srgbClr val="1B3B5A"/>
              </a:solidFill>
              <a:latin typeface="ITC Avant Garde Gothic"/>
              <a:ea typeface="ITC Avant Garde Gothic"/>
              <a:cs typeface="ITC Avant Garde Gothic"/>
              <a:sym typeface="ITC Avant Garde Gothic"/>
              <a:rtl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66750" y="666750"/>
            <a:ext cx="14077950" cy="86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التحديات والمخاطر / التحديات والمخاطر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6750" y="2457450"/>
            <a:ext cx="8324850" cy="4476750"/>
            <a:chOff x="0" y="0"/>
            <a:chExt cx="1869241" cy="100519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69241" cy="1005198"/>
            </a:xfrm>
            <a:custGeom>
              <a:avLst/>
              <a:gdLst/>
              <a:ahLst/>
              <a:cxnLst/>
              <a:rect l="l" t="t" r="r" b="b"/>
              <a:pathLst>
                <a:path w="1869241" h="1005198">
                  <a:moveTo>
                    <a:pt x="0" y="0"/>
                  </a:moveTo>
                  <a:lnTo>
                    <a:pt x="1869241" y="0"/>
                  </a:lnTo>
                  <a:lnTo>
                    <a:pt x="1869241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3"/>
              <a:stretch>
                <a:fillRect l="-140" r="-14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2457450"/>
            <a:ext cx="8324850" cy="4476750"/>
            <a:chOff x="0" y="0"/>
            <a:chExt cx="1869241" cy="10051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9241" cy="1005198"/>
            </a:xfrm>
            <a:custGeom>
              <a:avLst/>
              <a:gdLst/>
              <a:ahLst/>
              <a:cxnLst/>
              <a:rect l="l" t="t" r="r" b="b"/>
              <a:pathLst>
                <a:path w="1869241" h="1005198">
                  <a:moveTo>
                    <a:pt x="0" y="0"/>
                  </a:moveTo>
                  <a:lnTo>
                    <a:pt x="1869241" y="0"/>
                  </a:lnTo>
                  <a:lnTo>
                    <a:pt x="1869241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4"/>
              <a:stretch>
                <a:fillRect l="-140" r="-14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9150" y="3316293"/>
            <a:ext cx="6886575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39"/>
              </a:lnSpc>
            </a:pPr>
            <a:r>
              <a:rPr lang="en-US" sz="3599">
                <a:solidFill>
                  <a:srgbClr val="27496D"/>
                </a:solidFill>
                <a:latin typeface="TT Fors"/>
                <a:ea typeface="TT Fors"/>
                <a:cs typeface="TT Fors"/>
                <a:sym typeface="TT Fors"/>
              </a:rPr>
              <a:t>Ecrir Ici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657225"/>
            <a:ext cx="14077950" cy="103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نموذج العمل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5430959" y="752281"/>
            <a:ext cx="2190291" cy="809819"/>
            <a:chOff x="0" y="0"/>
            <a:chExt cx="2920388" cy="107975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920315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Freeform 7"/>
            <p:cNvSpPr/>
            <p:nvPr/>
          </p:nvSpPr>
          <p:spPr>
            <a:xfrm>
              <a:off x="1840630" y="0"/>
              <a:ext cx="1079758" cy="1079758"/>
            </a:xfrm>
            <a:custGeom>
              <a:avLst/>
              <a:gdLst/>
              <a:ahLst/>
              <a:cxnLst/>
              <a:rect l="l" t="t" r="r" b="b"/>
              <a:pathLst>
                <a:path w="1079758" h="1079758">
                  <a:moveTo>
                    <a:pt x="0" y="0"/>
                  </a:moveTo>
                  <a:lnTo>
                    <a:pt x="1079758" y="0"/>
                  </a:lnTo>
                  <a:lnTo>
                    <a:pt x="1079758" y="1079758"/>
                  </a:lnTo>
                  <a:lnTo>
                    <a:pt x="0" y="1079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96801" y="2457450"/>
            <a:ext cx="8324850" cy="4476750"/>
            <a:chOff x="0" y="0"/>
            <a:chExt cx="1869241" cy="10051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69241" cy="1005198"/>
            </a:xfrm>
            <a:custGeom>
              <a:avLst/>
              <a:gdLst/>
              <a:ahLst/>
              <a:cxnLst/>
              <a:rect l="l" t="t" r="r" b="b"/>
              <a:pathLst>
                <a:path w="1869241" h="1005198">
                  <a:moveTo>
                    <a:pt x="0" y="0"/>
                  </a:moveTo>
                  <a:lnTo>
                    <a:pt x="1869241" y="0"/>
                  </a:lnTo>
                  <a:lnTo>
                    <a:pt x="1869241" y="1005198"/>
                  </a:lnTo>
                  <a:lnTo>
                    <a:pt x="0" y="1005198"/>
                  </a:lnTo>
                  <a:close/>
                </a:path>
              </a:pathLst>
            </a:custGeom>
            <a:blipFill>
              <a:blip r:embed="rId4"/>
              <a:stretch>
                <a:fillRect l="-140" r="-14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81575" y="8790940"/>
            <a:ext cx="8324850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رؤية الفريق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32295" y="2923148"/>
            <a:ext cx="13623409" cy="139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“نحن نؤمن بأن الشباب قادرون على قيادة التغيير. معًا، نبني مستقبلاً أفضل من خلال توجيه ذكي ومسؤول.”</a:t>
            </a:r>
          </a:p>
        </p:txBody>
      </p:sp>
      <p:sp>
        <p:nvSpPr>
          <p:cNvPr id="4" name="Freeform 4"/>
          <p:cNvSpPr/>
          <p:nvPr/>
        </p:nvSpPr>
        <p:spPr>
          <a:xfrm>
            <a:off x="8537838" y="1057275"/>
            <a:ext cx="1212324" cy="934592"/>
          </a:xfrm>
          <a:custGeom>
            <a:avLst/>
            <a:gdLst/>
            <a:ahLst/>
            <a:cxnLst/>
            <a:rect l="l" t="t" r="r" b="b"/>
            <a:pathLst>
              <a:path w="1212324" h="934592">
                <a:moveTo>
                  <a:pt x="0" y="0"/>
                </a:moveTo>
                <a:lnTo>
                  <a:pt x="1212324" y="0"/>
                </a:lnTo>
                <a:lnTo>
                  <a:pt x="1212324" y="934592"/>
                </a:lnTo>
                <a:lnTo>
                  <a:pt x="0" y="934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332295" y="4611769"/>
            <a:ext cx="13623409" cy="1297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969"/>
              </a:lnSpc>
              <a:spcBef>
                <a:spcPct val="0"/>
              </a:spcBef>
            </a:pPr>
            <a:r>
              <a:rPr lang="ar-SA" sz="5400" dirty="0"/>
              <a:t>نحن نؤمن بأن الشباب قادرون على قيادة التغيير. معًا، نبني مستقبلاً أفضل.</a:t>
            </a:r>
            <a:endParaRPr lang="en-US" sz="4969" u="none" strike="noStrike" spc="-149" dirty="0">
              <a:solidFill>
                <a:srgbClr val="27496D"/>
              </a:solidFill>
              <a:latin typeface="ITC Avant Garde Gothic"/>
              <a:ea typeface="ITC Avant Garde Gothic"/>
              <a:cs typeface="ITC Avant Garde Gothic"/>
              <a:sym typeface="ITC Avant Garde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7989" y="3618127"/>
            <a:ext cx="6886575" cy="2232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t>شكراً لحسن اهتمامكم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-1303343" y="7829550"/>
            <a:ext cx="4846643" cy="1791955"/>
            <a:chOff x="0" y="0"/>
            <a:chExt cx="6462190" cy="23892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2036459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Freeform 6"/>
            <p:cNvSpPr/>
            <p:nvPr/>
          </p:nvSpPr>
          <p:spPr>
            <a:xfrm>
              <a:off x="4072917" y="0"/>
              <a:ext cx="2389273" cy="2389273"/>
            </a:xfrm>
            <a:custGeom>
              <a:avLst/>
              <a:gdLst/>
              <a:ahLst/>
              <a:cxnLst/>
              <a:rect l="l" t="t" r="r" b="b"/>
              <a:pathLst>
                <a:path w="2389273" h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067989" y="5840628"/>
            <a:ext cx="6886575" cy="102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000"/>
              </a:lnSpc>
              <a:spcBef>
                <a:spcPct val="0"/>
              </a:spcBef>
            </a:pPr>
            <a:r>
              <a:rPr lang="ar-SA" sz="8000" dirty="0"/>
              <a:t>شكراً لاهتمامكم</a:t>
            </a:r>
            <a:endParaRPr lang="ar-EG" sz="8000" u="none" strike="noStrike" spc="-240" dirty="0">
              <a:solidFill>
                <a:srgbClr val="27496D"/>
              </a:solidFill>
              <a:latin typeface="ITC Avant Garde Gothic"/>
              <a:ea typeface="ITC Avant Garde Gothic"/>
              <a:cs typeface="ITC Avant Garde Gothic"/>
              <a:sym typeface="ITC Avant Garde Gothic"/>
              <a:rtl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0" y="0"/>
            <a:ext cx="18288000" cy="1646452"/>
          </a:xfrm>
          <a:custGeom>
            <a:avLst/>
            <a:gdLst/>
            <a:ahLst/>
            <a:cxnLst/>
            <a:rect l="l" t="t" r="r" b="b"/>
            <a:pathLst>
              <a:path w="18288000" h="1646452">
                <a:moveTo>
                  <a:pt x="0" y="0"/>
                </a:moveTo>
                <a:lnTo>
                  <a:pt x="18288000" y="0"/>
                </a:lnTo>
                <a:lnTo>
                  <a:pt x="18288000" y="1646452"/>
                </a:lnTo>
                <a:lnTo>
                  <a:pt x="0" y="1646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2" t="-14312" r="-1672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381</Words>
  <Application>Microsoft Office PowerPoint</Application>
  <PresentationFormat>Custom</PresentationFormat>
  <Paragraphs>53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ITC Avant Garde Gothic</vt:lpstr>
      <vt:lpstr>Aptos</vt:lpstr>
      <vt:lpstr>TT Fors</vt:lpstr>
      <vt:lpstr>ITC Avant Garde Gothic Bold</vt:lpstr>
      <vt:lpstr>Roboto</vt:lpstr>
      <vt:lpstr>Calibri</vt:lpstr>
      <vt:lpstr>TT Fors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Social Startup Project</dc:title>
  <dc:description>Presentation - Social Startup Project</dc:description>
  <cp:lastModifiedBy>Mohammed Belmal</cp:lastModifiedBy>
  <cp:revision>2</cp:revision>
  <dcterms:created xsi:type="dcterms:W3CDTF">2006-08-16T00:00:00Z</dcterms:created>
  <dcterms:modified xsi:type="dcterms:W3CDTF">2025-11-11T21:17:48Z</dcterms:modified>
  <dc:identifier>DAG4TnUoMuw</dc:identifier>
</cp:coreProperties>
</file>